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56" r:id="rId2"/>
  </p:sldIdLst>
  <p:sldSz cx="30275213" cy="4280376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775DCB02-9BB8-47FD-8907-85C794F793BA}" styleName="Themed Style 1 – Accent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  <a:tblStyle styleId="{18603FDC-E32A-4AB5-989C-0864C3EAD2B8}" styleName="Themed Style 2 – Accent 2">
    <a:tblBg>
      <a:fillRef idx="3">
        <a:schemeClr val="accent2"/>
      </a:fillRef>
      <a:effectRef idx="3">
        <a:schemeClr val="accent2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2">
                <a:tint val="50000"/>
              </a:schemeClr>
            </a:lnRef>
          </a:left>
          <a:right>
            <a:lnRef idx="1">
              <a:schemeClr val="accent2">
                <a:tint val="50000"/>
              </a:schemeClr>
            </a:lnRef>
          </a:right>
          <a:top>
            <a:lnRef idx="1">
              <a:schemeClr val="accent2">
                <a:tint val="50000"/>
              </a:schemeClr>
            </a:lnRef>
          </a:top>
          <a:bottom>
            <a:lnRef idx="1">
              <a:schemeClr val="accent2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E269D01E-BC32-4049-B463-5C60D7B0CCD2}" styleName="Themed Style 2 – Accent 4">
    <a:tblBg>
      <a:fillRef idx="3">
        <a:schemeClr val="accent4"/>
      </a:fillRef>
      <a:effectRef idx="3">
        <a:schemeClr val="accent4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4">
                <a:tint val="50000"/>
              </a:schemeClr>
            </a:lnRef>
          </a:left>
          <a:right>
            <a:lnRef idx="1">
              <a:schemeClr val="accent4">
                <a:tint val="50000"/>
              </a:schemeClr>
            </a:lnRef>
          </a:right>
          <a:top>
            <a:lnRef idx="1">
              <a:schemeClr val="accent4">
                <a:tint val="50000"/>
              </a:schemeClr>
            </a:lnRef>
          </a:top>
          <a:bottom>
            <a:lnRef idx="1">
              <a:schemeClr val="accent4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–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vertBarState="minimized">
    <p:restoredLeft sz="5854"/>
    <p:restoredTop sz="94651"/>
  </p:normalViewPr>
  <p:slideViewPr>
    <p:cSldViewPr snapToGrid="0">
      <p:cViewPr>
        <p:scale>
          <a:sx n="72" d="100"/>
          <a:sy n="72" d="100"/>
        </p:scale>
        <p:origin x="3464" y="1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270641" y="7005156"/>
            <a:ext cx="25733931" cy="14902051"/>
          </a:xfrm>
        </p:spPr>
        <p:txBody>
          <a:bodyPr anchor="b"/>
          <a:lstStyle>
            <a:lvl1pPr algn="ctr">
              <a:defRPr sz="19865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784402" y="22481887"/>
            <a:ext cx="22706410" cy="10334331"/>
          </a:xfrm>
        </p:spPr>
        <p:txBody>
          <a:bodyPr/>
          <a:lstStyle>
            <a:lvl1pPr marL="0" indent="0" algn="ctr">
              <a:buNone/>
              <a:defRPr sz="7946"/>
            </a:lvl1pPr>
            <a:lvl2pPr marL="1513743" indent="0" algn="ctr">
              <a:buNone/>
              <a:defRPr sz="6622"/>
            </a:lvl2pPr>
            <a:lvl3pPr marL="3027487" indent="0" algn="ctr">
              <a:buNone/>
              <a:defRPr sz="5960"/>
            </a:lvl3pPr>
            <a:lvl4pPr marL="4541230" indent="0" algn="ctr">
              <a:buNone/>
              <a:defRPr sz="5297"/>
            </a:lvl4pPr>
            <a:lvl5pPr marL="6054974" indent="0" algn="ctr">
              <a:buNone/>
              <a:defRPr sz="5297"/>
            </a:lvl5pPr>
            <a:lvl6pPr marL="7568717" indent="0" algn="ctr">
              <a:buNone/>
              <a:defRPr sz="5297"/>
            </a:lvl6pPr>
            <a:lvl7pPr marL="9082461" indent="0" algn="ctr">
              <a:buNone/>
              <a:defRPr sz="5297"/>
            </a:lvl7pPr>
            <a:lvl8pPr marL="10596204" indent="0" algn="ctr">
              <a:buNone/>
              <a:defRPr sz="5297"/>
            </a:lvl8pPr>
            <a:lvl9pPr marL="12109948" indent="0" algn="ctr">
              <a:buNone/>
              <a:defRPr sz="5297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F24F86-067C-614D-B900-974E01A18049}" type="datetimeFigureOut">
              <a:rPr lang="en-GB" smtClean="0"/>
              <a:t>25/05/2026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041459-7E83-D249-A221-7E8C0B2A63A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822894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F24F86-067C-614D-B900-974E01A18049}" type="datetimeFigureOut">
              <a:rPr lang="en-GB" smtClean="0"/>
              <a:t>25/05/2026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041459-7E83-D249-A221-7E8C0B2A63A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5537225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65654" y="10671229"/>
            <a:ext cx="26112371" cy="17805173"/>
          </a:xfrm>
        </p:spPr>
        <p:txBody>
          <a:bodyPr anchor="b"/>
          <a:lstStyle>
            <a:lvl1pPr>
              <a:defRPr sz="19865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065654" y="28644846"/>
            <a:ext cx="26112371" cy="9363320"/>
          </a:xfrm>
        </p:spPr>
        <p:txBody>
          <a:bodyPr/>
          <a:lstStyle>
            <a:lvl1pPr marL="0" indent="0">
              <a:buNone/>
              <a:defRPr sz="7946">
                <a:solidFill>
                  <a:schemeClr val="tx1"/>
                </a:solidFill>
              </a:defRPr>
            </a:lvl1pPr>
            <a:lvl2pPr marL="1513743" indent="0">
              <a:buNone/>
              <a:defRPr sz="6622">
                <a:solidFill>
                  <a:schemeClr val="tx1">
                    <a:tint val="75000"/>
                  </a:schemeClr>
                </a:solidFill>
              </a:defRPr>
            </a:lvl2pPr>
            <a:lvl3pPr marL="3027487" indent="0">
              <a:buNone/>
              <a:defRPr sz="5960">
                <a:solidFill>
                  <a:schemeClr val="tx1">
                    <a:tint val="75000"/>
                  </a:schemeClr>
                </a:solidFill>
              </a:defRPr>
            </a:lvl3pPr>
            <a:lvl4pPr marL="4541230" indent="0">
              <a:buNone/>
              <a:defRPr sz="5297">
                <a:solidFill>
                  <a:schemeClr val="tx1">
                    <a:tint val="75000"/>
                  </a:schemeClr>
                </a:solidFill>
              </a:defRPr>
            </a:lvl4pPr>
            <a:lvl5pPr marL="6054974" indent="0">
              <a:buNone/>
              <a:defRPr sz="5297">
                <a:solidFill>
                  <a:schemeClr val="tx1">
                    <a:tint val="75000"/>
                  </a:schemeClr>
                </a:solidFill>
              </a:defRPr>
            </a:lvl5pPr>
            <a:lvl6pPr marL="7568717" indent="0">
              <a:buNone/>
              <a:defRPr sz="5297">
                <a:solidFill>
                  <a:schemeClr val="tx1">
                    <a:tint val="75000"/>
                  </a:schemeClr>
                </a:solidFill>
              </a:defRPr>
            </a:lvl6pPr>
            <a:lvl7pPr marL="9082461" indent="0">
              <a:buNone/>
              <a:defRPr sz="5297">
                <a:solidFill>
                  <a:schemeClr val="tx1">
                    <a:tint val="75000"/>
                  </a:schemeClr>
                </a:solidFill>
              </a:defRPr>
            </a:lvl7pPr>
            <a:lvl8pPr marL="10596204" indent="0">
              <a:buNone/>
              <a:defRPr sz="5297">
                <a:solidFill>
                  <a:schemeClr val="tx1">
                    <a:tint val="75000"/>
                  </a:schemeClr>
                </a:solidFill>
              </a:defRPr>
            </a:lvl8pPr>
            <a:lvl9pPr marL="12109948" indent="0">
              <a:buNone/>
              <a:defRPr sz="5297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F24F86-067C-614D-B900-974E01A18049}" type="datetimeFigureOut">
              <a:rPr lang="en-GB" smtClean="0"/>
              <a:t>25/05/2026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041459-7E83-D249-A221-7E8C0B2A63A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706855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081421" y="11394520"/>
            <a:ext cx="12866966" cy="27158594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5326826" y="11394520"/>
            <a:ext cx="12866966" cy="27158594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F24F86-067C-614D-B900-974E01A18049}" type="datetimeFigureOut">
              <a:rPr lang="en-GB" smtClean="0"/>
              <a:t>25/05/2026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041459-7E83-D249-A221-7E8C0B2A63A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575080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85364" y="2278913"/>
            <a:ext cx="26112371" cy="8273416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085368" y="10492870"/>
            <a:ext cx="12807832" cy="5142393"/>
          </a:xfrm>
        </p:spPr>
        <p:txBody>
          <a:bodyPr anchor="b"/>
          <a:lstStyle>
            <a:lvl1pPr marL="0" indent="0">
              <a:buNone/>
              <a:defRPr sz="7946" b="1"/>
            </a:lvl1pPr>
            <a:lvl2pPr marL="1513743" indent="0">
              <a:buNone/>
              <a:defRPr sz="6622" b="1"/>
            </a:lvl2pPr>
            <a:lvl3pPr marL="3027487" indent="0">
              <a:buNone/>
              <a:defRPr sz="5960" b="1"/>
            </a:lvl3pPr>
            <a:lvl4pPr marL="4541230" indent="0">
              <a:buNone/>
              <a:defRPr sz="5297" b="1"/>
            </a:lvl4pPr>
            <a:lvl5pPr marL="6054974" indent="0">
              <a:buNone/>
              <a:defRPr sz="5297" b="1"/>
            </a:lvl5pPr>
            <a:lvl6pPr marL="7568717" indent="0">
              <a:buNone/>
              <a:defRPr sz="5297" b="1"/>
            </a:lvl6pPr>
            <a:lvl7pPr marL="9082461" indent="0">
              <a:buNone/>
              <a:defRPr sz="5297" b="1"/>
            </a:lvl7pPr>
            <a:lvl8pPr marL="10596204" indent="0">
              <a:buNone/>
              <a:defRPr sz="5297" b="1"/>
            </a:lvl8pPr>
            <a:lvl9pPr marL="12109948" indent="0">
              <a:buNone/>
              <a:defRPr sz="5297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085368" y="15635264"/>
            <a:ext cx="12807832" cy="22997117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5326828" y="10492870"/>
            <a:ext cx="12870909" cy="5142393"/>
          </a:xfrm>
        </p:spPr>
        <p:txBody>
          <a:bodyPr anchor="b"/>
          <a:lstStyle>
            <a:lvl1pPr marL="0" indent="0">
              <a:buNone/>
              <a:defRPr sz="7946" b="1"/>
            </a:lvl1pPr>
            <a:lvl2pPr marL="1513743" indent="0">
              <a:buNone/>
              <a:defRPr sz="6622" b="1"/>
            </a:lvl2pPr>
            <a:lvl3pPr marL="3027487" indent="0">
              <a:buNone/>
              <a:defRPr sz="5960" b="1"/>
            </a:lvl3pPr>
            <a:lvl4pPr marL="4541230" indent="0">
              <a:buNone/>
              <a:defRPr sz="5297" b="1"/>
            </a:lvl4pPr>
            <a:lvl5pPr marL="6054974" indent="0">
              <a:buNone/>
              <a:defRPr sz="5297" b="1"/>
            </a:lvl5pPr>
            <a:lvl6pPr marL="7568717" indent="0">
              <a:buNone/>
              <a:defRPr sz="5297" b="1"/>
            </a:lvl6pPr>
            <a:lvl7pPr marL="9082461" indent="0">
              <a:buNone/>
              <a:defRPr sz="5297" b="1"/>
            </a:lvl7pPr>
            <a:lvl8pPr marL="10596204" indent="0">
              <a:buNone/>
              <a:defRPr sz="5297" b="1"/>
            </a:lvl8pPr>
            <a:lvl9pPr marL="12109948" indent="0">
              <a:buNone/>
              <a:defRPr sz="5297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5326828" y="15635264"/>
            <a:ext cx="12870909" cy="22997117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F24F86-067C-614D-B900-974E01A18049}" type="datetimeFigureOut">
              <a:rPr lang="en-GB" smtClean="0"/>
              <a:t>25/05/2026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041459-7E83-D249-A221-7E8C0B2A63A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6406802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F24F86-067C-614D-B900-974E01A18049}" type="datetimeFigureOut">
              <a:rPr lang="en-GB" smtClean="0"/>
              <a:t>25/05/2026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041459-7E83-D249-A221-7E8C0B2A63A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6420220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F24F86-067C-614D-B900-974E01A18049}" type="datetimeFigureOut">
              <a:rPr lang="en-GB" smtClean="0"/>
              <a:t>25/05/2026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041459-7E83-D249-A221-7E8C0B2A63A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732567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85364" y="2853584"/>
            <a:ext cx="9764544" cy="9987545"/>
          </a:xfrm>
        </p:spPr>
        <p:txBody>
          <a:bodyPr anchor="b"/>
          <a:lstStyle>
            <a:lvl1pPr>
              <a:defRPr sz="10595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2870909" y="6162959"/>
            <a:ext cx="15326827" cy="30418415"/>
          </a:xfrm>
        </p:spPr>
        <p:txBody>
          <a:bodyPr/>
          <a:lstStyle>
            <a:lvl1pPr>
              <a:defRPr sz="10595"/>
            </a:lvl1pPr>
            <a:lvl2pPr>
              <a:defRPr sz="9271"/>
            </a:lvl2pPr>
            <a:lvl3pPr>
              <a:defRPr sz="7946"/>
            </a:lvl3pPr>
            <a:lvl4pPr>
              <a:defRPr sz="6622"/>
            </a:lvl4pPr>
            <a:lvl5pPr>
              <a:defRPr sz="6622"/>
            </a:lvl5pPr>
            <a:lvl6pPr>
              <a:defRPr sz="6622"/>
            </a:lvl6pPr>
            <a:lvl7pPr>
              <a:defRPr sz="6622"/>
            </a:lvl7pPr>
            <a:lvl8pPr>
              <a:defRPr sz="6622"/>
            </a:lvl8pPr>
            <a:lvl9pPr>
              <a:defRPr sz="6622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085364" y="12841129"/>
            <a:ext cx="9764544" cy="23789780"/>
          </a:xfrm>
        </p:spPr>
        <p:txBody>
          <a:bodyPr/>
          <a:lstStyle>
            <a:lvl1pPr marL="0" indent="0">
              <a:buNone/>
              <a:defRPr sz="5297"/>
            </a:lvl1pPr>
            <a:lvl2pPr marL="1513743" indent="0">
              <a:buNone/>
              <a:defRPr sz="4635"/>
            </a:lvl2pPr>
            <a:lvl3pPr marL="3027487" indent="0">
              <a:buNone/>
              <a:defRPr sz="3973"/>
            </a:lvl3pPr>
            <a:lvl4pPr marL="4541230" indent="0">
              <a:buNone/>
              <a:defRPr sz="3311"/>
            </a:lvl4pPr>
            <a:lvl5pPr marL="6054974" indent="0">
              <a:buNone/>
              <a:defRPr sz="3311"/>
            </a:lvl5pPr>
            <a:lvl6pPr marL="7568717" indent="0">
              <a:buNone/>
              <a:defRPr sz="3311"/>
            </a:lvl6pPr>
            <a:lvl7pPr marL="9082461" indent="0">
              <a:buNone/>
              <a:defRPr sz="3311"/>
            </a:lvl7pPr>
            <a:lvl8pPr marL="10596204" indent="0">
              <a:buNone/>
              <a:defRPr sz="3311"/>
            </a:lvl8pPr>
            <a:lvl9pPr marL="12109948" indent="0">
              <a:buNone/>
              <a:defRPr sz="331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F24F86-067C-614D-B900-974E01A18049}" type="datetimeFigureOut">
              <a:rPr lang="en-GB" smtClean="0"/>
              <a:t>25/05/2026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041459-7E83-D249-A221-7E8C0B2A63A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1058770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85364" y="2853584"/>
            <a:ext cx="9764544" cy="9987545"/>
          </a:xfrm>
        </p:spPr>
        <p:txBody>
          <a:bodyPr anchor="b"/>
          <a:lstStyle>
            <a:lvl1pPr>
              <a:defRPr sz="10595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2870909" y="6162959"/>
            <a:ext cx="15326827" cy="30418415"/>
          </a:xfrm>
        </p:spPr>
        <p:txBody>
          <a:bodyPr anchor="t"/>
          <a:lstStyle>
            <a:lvl1pPr marL="0" indent="0">
              <a:buNone/>
              <a:defRPr sz="10595"/>
            </a:lvl1pPr>
            <a:lvl2pPr marL="1513743" indent="0">
              <a:buNone/>
              <a:defRPr sz="9271"/>
            </a:lvl2pPr>
            <a:lvl3pPr marL="3027487" indent="0">
              <a:buNone/>
              <a:defRPr sz="7946"/>
            </a:lvl3pPr>
            <a:lvl4pPr marL="4541230" indent="0">
              <a:buNone/>
              <a:defRPr sz="6622"/>
            </a:lvl4pPr>
            <a:lvl5pPr marL="6054974" indent="0">
              <a:buNone/>
              <a:defRPr sz="6622"/>
            </a:lvl5pPr>
            <a:lvl6pPr marL="7568717" indent="0">
              <a:buNone/>
              <a:defRPr sz="6622"/>
            </a:lvl6pPr>
            <a:lvl7pPr marL="9082461" indent="0">
              <a:buNone/>
              <a:defRPr sz="6622"/>
            </a:lvl7pPr>
            <a:lvl8pPr marL="10596204" indent="0">
              <a:buNone/>
              <a:defRPr sz="6622"/>
            </a:lvl8pPr>
            <a:lvl9pPr marL="12109948" indent="0">
              <a:buNone/>
              <a:defRPr sz="6622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085364" y="12841129"/>
            <a:ext cx="9764544" cy="23789780"/>
          </a:xfrm>
        </p:spPr>
        <p:txBody>
          <a:bodyPr/>
          <a:lstStyle>
            <a:lvl1pPr marL="0" indent="0">
              <a:buNone/>
              <a:defRPr sz="5297"/>
            </a:lvl1pPr>
            <a:lvl2pPr marL="1513743" indent="0">
              <a:buNone/>
              <a:defRPr sz="4635"/>
            </a:lvl2pPr>
            <a:lvl3pPr marL="3027487" indent="0">
              <a:buNone/>
              <a:defRPr sz="3973"/>
            </a:lvl3pPr>
            <a:lvl4pPr marL="4541230" indent="0">
              <a:buNone/>
              <a:defRPr sz="3311"/>
            </a:lvl4pPr>
            <a:lvl5pPr marL="6054974" indent="0">
              <a:buNone/>
              <a:defRPr sz="3311"/>
            </a:lvl5pPr>
            <a:lvl6pPr marL="7568717" indent="0">
              <a:buNone/>
              <a:defRPr sz="3311"/>
            </a:lvl6pPr>
            <a:lvl7pPr marL="9082461" indent="0">
              <a:buNone/>
              <a:defRPr sz="3311"/>
            </a:lvl7pPr>
            <a:lvl8pPr marL="10596204" indent="0">
              <a:buNone/>
              <a:defRPr sz="3311"/>
            </a:lvl8pPr>
            <a:lvl9pPr marL="12109948" indent="0">
              <a:buNone/>
              <a:defRPr sz="331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F24F86-067C-614D-B900-974E01A18049}" type="datetimeFigureOut">
              <a:rPr lang="en-GB" smtClean="0"/>
              <a:t>25/05/2026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041459-7E83-D249-A221-7E8C0B2A63A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3060822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F24F86-067C-614D-B900-974E01A18049}" type="datetimeFigureOut">
              <a:rPr lang="en-GB" smtClean="0"/>
              <a:t>25/05/2026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041459-7E83-D249-A221-7E8C0B2A63A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4735887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21665701" y="2278904"/>
            <a:ext cx="6528093" cy="36274211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081423" y="2278904"/>
            <a:ext cx="19205838" cy="36274211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F24F86-067C-614D-B900-974E01A18049}" type="datetimeFigureOut">
              <a:rPr lang="en-GB" smtClean="0"/>
              <a:t>25/05/2026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041459-7E83-D249-A221-7E8C0B2A63A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1235718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081421" y="2278913"/>
            <a:ext cx="26112371" cy="82734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081421" y="11394520"/>
            <a:ext cx="26112371" cy="2715859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081421" y="39672756"/>
            <a:ext cx="6811923" cy="227890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397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9F24F86-067C-614D-B900-974E01A18049}" type="datetimeFigureOut">
              <a:rPr lang="en-GB" smtClean="0"/>
              <a:t>25/05/2026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0028665" y="39672756"/>
            <a:ext cx="10217884" cy="227890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397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1381869" y="39672756"/>
            <a:ext cx="6811923" cy="227890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397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F041459-7E83-D249-A221-7E8C0B2A63A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855233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3027487" rtl="0" eaLnBrk="1" latinLnBrk="0" hangingPunct="1">
        <a:lnSpc>
          <a:spcPct val="90000"/>
        </a:lnSpc>
        <a:spcBef>
          <a:spcPct val="0"/>
        </a:spcBef>
        <a:buNone/>
        <a:defRPr sz="14568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756872" indent="-756872" algn="l" defTabSz="3027487" rtl="0" eaLnBrk="1" latinLnBrk="0" hangingPunct="1">
        <a:lnSpc>
          <a:spcPct val="90000"/>
        </a:lnSpc>
        <a:spcBef>
          <a:spcPts val="3311"/>
        </a:spcBef>
        <a:buFont typeface="Arial" panose="020B0604020202020204" pitchFamily="34" charset="0"/>
        <a:buChar char="•"/>
        <a:defRPr sz="9271" kern="1200">
          <a:solidFill>
            <a:schemeClr val="tx1"/>
          </a:solidFill>
          <a:latin typeface="+mn-lt"/>
          <a:ea typeface="+mn-ea"/>
          <a:cs typeface="+mn-cs"/>
        </a:defRPr>
      </a:lvl1pPr>
      <a:lvl2pPr marL="2270615" indent="-756872" algn="l" defTabSz="3027487" rtl="0" eaLnBrk="1" latinLnBrk="0" hangingPunct="1">
        <a:lnSpc>
          <a:spcPct val="90000"/>
        </a:lnSpc>
        <a:spcBef>
          <a:spcPts val="1655"/>
        </a:spcBef>
        <a:buFont typeface="Arial" panose="020B0604020202020204" pitchFamily="34" charset="0"/>
        <a:buChar char="•"/>
        <a:defRPr sz="7946" kern="1200">
          <a:solidFill>
            <a:schemeClr val="tx1"/>
          </a:solidFill>
          <a:latin typeface="+mn-lt"/>
          <a:ea typeface="+mn-ea"/>
          <a:cs typeface="+mn-cs"/>
        </a:defRPr>
      </a:lvl2pPr>
      <a:lvl3pPr marL="3784359" indent="-756872" algn="l" defTabSz="3027487" rtl="0" eaLnBrk="1" latinLnBrk="0" hangingPunct="1">
        <a:lnSpc>
          <a:spcPct val="90000"/>
        </a:lnSpc>
        <a:spcBef>
          <a:spcPts val="1655"/>
        </a:spcBef>
        <a:buFont typeface="Arial" panose="020B0604020202020204" pitchFamily="34" charset="0"/>
        <a:buChar char="•"/>
        <a:defRPr sz="6622" kern="1200">
          <a:solidFill>
            <a:schemeClr val="tx1"/>
          </a:solidFill>
          <a:latin typeface="+mn-lt"/>
          <a:ea typeface="+mn-ea"/>
          <a:cs typeface="+mn-cs"/>
        </a:defRPr>
      </a:lvl3pPr>
      <a:lvl4pPr marL="5298102" indent="-756872" algn="l" defTabSz="3027487" rtl="0" eaLnBrk="1" latinLnBrk="0" hangingPunct="1">
        <a:lnSpc>
          <a:spcPct val="90000"/>
        </a:lnSpc>
        <a:spcBef>
          <a:spcPts val="1655"/>
        </a:spcBef>
        <a:buFont typeface="Arial" panose="020B0604020202020204" pitchFamily="34" charset="0"/>
        <a:buChar char="•"/>
        <a:defRPr sz="5960" kern="1200">
          <a:solidFill>
            <a:schemeClr val="tx1"/>
          </a:solidFill>
          <a:latin typeface="+mn-lt"/>
          <a:ea typeface="+mn-ea"/>
          <a:cs typeface="+mn-cs"/>
        </a:defRPr>
      </a:lvl4pPr>
      <a:lvl5pPr marL="6811846" indent="-756872" algn="l" defTabSz="3027487" rtl="0" eaLnBrk="1" latinLnBrk="0" hangingPunct="1">
        <a:lnSpc>
          <a:spcPct val="90000"/>
        </a:lnSpc>
        <a:spcBef>
          <a:spcPts val="1655"/>
        </a:spcBef>
        <a:buFont typeface="Arial" panose="020B0604020202020204" pitchFamily="34" charset="0"/>
        <a:buChar char="•"/>
        <a:defRPr sz="5960" kern="1200">
          <a:solidFill>
            <a:schemeClr val="tx1"/>
          </a:solidFill>
          <a:latin typeface="+mn-lt"/>
          <a:ea typeface="+mn-ea"/>
          <a:cs typeface="+mn-cs"/>
        </a:defRPr>
      </a:lvl5pPr>
      <a:lvl6pPr marL="8325589" indent="-756872" algn="l" defTabSz="3027487" rtl="0" eaLnBrk="1" latinLnBrk="0" hangingPunct="1">
        <a:lnSpc>
          <a:spcPct val="90000"/>
        </a:lnSpc>
        <a:spcBef>
          <a:spcPts val="1655"/>
        </a:spcBef>
        <a:buFont typeface="Arial" panose="020B0604020202020204" pitchFamily="34" charset="0"/>
        <a:buChar char="•"/>
        <a:defRPr sz="5960" kern="1200">
          <a:solidFill>
            <a:schemeClr val="tx1"/>
          </a:solidFill>
          <a:latin typeface="+mn-lt"/>
          <a:ea typeface="+mn-ea"/>
          <a:cs typeface="+mn-cs"/>
        </a:defRPr>
      </a:lvl6pPr>
      <a:lvl7pPr marL="9839333" indent="-756872" algn="l" defTabSz="3027487" rtl="0" eaLnBrk="1" latinLnBrk="0" hangingPunct="1">
        <a:lnSpc>
          <a:spcPct val="90000"/>
        </a:lnSpc>
        <a:spcBef>
          <a:spcPts val="1655"/>
        </a:spcBef>
        <a:buFont typeface="Arial" panose="020B0604020202020204" pitchFamily="34" charset="0"/>
        <a:buChar char="•"/>
        <a:defRPr sz="5960" kern="1200">
          <a:solidFill>
            <a:schemeClr val="tx1"/>
          </a:solidFill>
          <a:latin typeface="+mn-lt"/>
          <a:ea typeface="+mn-ea"/>
          <a:cs typeface="+mn-cs"/>
        </a:defRPr>
      </a:lvl7pPr>
      <a:lvl8pPr marL="11353076" indent="-756872" algn="l" defTabSz="3027487" rtl="0" eaLnBrk="1" latinLnBrk="0" hangingPunct="1">
        <a:lnSpc>
          <a:spcPct val="90000"/>
        </a:lnSpc>
        <a:spcBef>
          <a:spcPts val="1655"/>
        </a:spcBef>
        <a:buFont typeface="Arial" panose="020B0604020202020204" pitchFamily="34" charset="0"/>
        <a:buChar char="•"/>
        <a:defRPr sz="5960" kern="1200">
          <a:solidFill>
            <a:schemeClr val="tx1"/>
          </a:solidFill>
          <a:latin typeface="+mn-lt"/>
          <a:ea typeface="+mn-ea"/>
          <a:cs typeface="+mn-cs"/>
        </a:defRPr>
      </a:lvl8pPr>
      <a:lvl9pPr marL="12866820" indent="-756872" algn="l" defTabSz="3027487" rtl="0" eaLnBrk="1" latinLnBrk="0" hangingPunct="1">
        <a:lnSpc>
          <a:spcPct val="90000"/>
        </a:lnSpc>
        <a:spcBef>
          <a:spcPts val="1655"/>
        </a:spcBef>
        <a:buFont typeface="Arial" panose="020B0604020202020204" pitchFamily="34" charset="0"/>
        <a:buChar char="•"/>
        <a:defRPr sz="596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027487" rtl="0" eaLnBrk="1" latinLnBrk="0" hangingPunct="1">
        <a:defRPr sz="5960" kern="1200">
          <a:solidFill>
            <a:schemeClr val="tx1"/>
          </a:solidFill>
          <a:latin typeface="+mn-lt"/>
          <a:ea typeface="+mn-ea"/>
          <a:cs typeface="+mn-cs"/>
        </a:defRPr>
      </a:lvl1pPr>
      <a:lvl2pPr marL="1513743" algn="l" defTabSz="3027487" rtl="0" eaLnBrk="1" latinLnBrk="0" hangingPunct="1">
        <a:defRPr sz="5960" kern="1200">
          <a:solidFill>
            <a:schemeClr val="tx1"/>
          </a:solidFill>
          <a:latin typeface="+mn-lt"/>
          <a:ea typeface="+mn-ea"/>
          <a:cs typeface="+mn-cs"/>
        </a:defRPr>
      </a:lvl2pPr>
      <a:lvl3pPr marL="3027487" algn="l" defTabSz="3027487" rtl="0" eaLnBrk="1" latinLnBrk="0" hangingPunct="1">
        <a:defRPr sz="5960" kern="1200">
          <a:solidFill>
            <a:schemeClr val="tx1"/>
          </a:solidFill>
          <a:latin typeface="+mn-lt"/>
          <a:ea typeface="+mn-ea"/>
          <a:cs typeface="+mn-cs"/>
        </a:defRPr>
      </a:lvl3pPr>
      <a:lvl4pPr marL="4541230" algn="l" defTabSz="3027487" rtl="0" eaLnBrk="1" latinLnBrk="0" hangingPunct="1">
        <a:defRPr sz="5960" kern="1200">
          <a:solidFill>
            <a:schemeClr val="tx1"/>
          </a:solidFill>
          <a:latin typeface="+mn-lt"/>
          <a:ea typeface="+mn-ea"/>
          <a:cs typeface="+mn-cs"/>
        </a:defRPr>
      </a:lvl4pPr>
      <a:lvl5pPr marL="6054974" algn="l" defTabSz="3027487" rtl="0" eaLnBrk="1" latinLnBrk="0" hangingPunct="1">
        <a:defRPr sz="5960" kern="1200">
          <a:solidFill>
            <a:schemeClr val="tx1"/>
          </a:solidFill>
          <a:latin typeface="+mn-lt"/>
          <a:ea typeface="+mn-ea"/>
          <a:cs typeface="+mn-cs"/>
        </a:defRPr>
      </a:lvl5pPr>
      <a:lvl6pPr marL="7568717" algn="l" defTabSz="3027487" rtl="0" eaLnBrk="1" latinLnBrk="0" hangingPunct="1">
        <a:defRPr sz="5960" kern="1200">
          <a:solidFill>
            <a:schemeClr val="tx1"/>
          </a:solidFill>
          <a:latin typeface="+mn-lt"/>
          <a:ea typeface="+mn-ea"/>
          <a:cs typeface="+mn-cs"/>
        </a:defRPr>
      </a:lvl6pPr>
      <a:lvl7pPr marL="9082461" algn="l" defTabSz="3027487" rtl="0" eaLnBrk="1" latinLnBrk="0" hangingPunct="1">
        <a:defRPr sz="5960" kern="1200">
          <a:solidFill>
            <a:schemeClr val="tx1"/>
          </a:solidFill>
          <a:latin typeface="+mn-lt"/>
          <a:ea typeface="+mn-ea"/>
          <a:cs typeface="+mn-cs"/>
        </a:defRPr>
      </a:lvl7pPr>
      <a:lvl8pPr marL="10596204" algn="l" defTabSz="3027487" rtl="0" eaLnBrk="1" latinLnBrk="0" hangingPunct="1">
        <a:defRPr sz="5960" kern="1200">
          <a:solidFill>
            <a:schemeClr val="tx1"/>
          </a:solidFill>
          <a:latin typeface="+mn-lt"/>
          <a:ea typeface="+mn-ea"/>
          <a:cs typeface="+mn-cs"/>
        </a:defRPr>
      </a:lvl8pPr>
      <a:lvl9pPr marL="12109948" algn="l" defTabSz="3027487" rtl="0" eaLnBrk="1" latinLnBrk="0" hangingPunct="1">
        <a:defRPr sz="596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13" Type="http://schemas.openxmlformats.org/officeDocument/2006/relationships/image" Target="../media/image11.svg"/><Relationship Id="rId3" Type="http://schemas.openxmlformats.org/officeDocument/2006/relationships/hyperlink" Target="mailto:giulio.Benedetti@utu.fi" TargetMode="External"/><Relationship Id="rId7" Type="http://schemas.openxmlformats.org/officeDocument/2006/relationships/image" Target="../media/image5.png"/><Relationship Id="rId12" Type="http://schemas.openxmlformats.org/officeDocument/2006/relationships/image" Target="../media/image10.svg"/><Relationship Id="rId2" Type="http://schemas.openxmlformats.org/officeDocument/2006/relationships/image" Target="../media/image1.png"/><Relationship Id="rId16" Type="http://schemas.openxmlformats.org/officeDocument/2006/relationships/image" Target="../media/image14.jp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png"/><Relationship Id="rId5" Type="http://schemas.openxmlformats.org/officeDocument/2006/relationships/image" Target="../media/image3.jpg"/><Relationship Id="rId15" Type="http://schemas.openxmlformats.org/officeDocument/2006/relationships/image" Target="../media/image13.png"/><Relationship Id="rId10" Type="http://schemas.openxmlformats.org/officeDocument/2006/relationships/image" Target="../media/image8.jpg"/><Relationship Id="rId4" Type="http://schemas.openxmlformats.org/officeDocument/2006/relationships/image" Target="../media/image2.png"/><Relationship Id="rId9" Type="http://schemas.openxmlformats.org/officeDocument/2006/relationships/image" Target="../media/image7.png"/><Relationship Id="rId14" Type="http://schemas.openxmlformats.org/officeDocument/2006/relationships/image" Target="../media/image12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7" name="Picture 56">
            <a:extLst>
              <a:ext uri="{FF2B5EF4-FFF2-40B4-BE49-F238E27FC236}">
                <a16:creationId xmlns:a16="http://schemas.microsoft.com/office/drawing/2014/main" id="{63DE2C3A-6A02-DA72-C801-6B3DFFAB0F8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94878" y="20301753"/>
            <a:ext cx="12711823" cy="7150399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072DB047-8857-C38F-1C51-23EDE4EA64AA}"/>
              </a:ext>
            </a:extLst>
          </p:cNvPr>
          <p:cNvSpPr txBox="1"/>
          <p:nvPr/>
        </p:nvSpPr>
        <p:spPr>
          <a:xfrm>
            <a:off x="1631174" y="2546113"/>
            <a:ext cx="6955039" cy="35804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500" u="sng" dirty="0"/>
              <a:t>Giulio Benedetti</a:t>
            </a:r>
            <a:r>
              <a:rPr lang="en-GB" sz="3500" dirty="0"/>
              <a:t>,</a:t>
            </a:r>
          </a:p>
          <a:p>
            <a:r>
              <a:rPr lang="en-GB" sz="3500" u="sng" dirty="0"/>
              <a:t>Thomaz </a:t>
            </a:r>
            <a:r>
              <a:rPr lang="en-GB" sz="3500" u="sng" dirty="0" err="1"/>
              <a:t>Bastiaanssen</a:t>
            </a:r>
            <a:r>
              <a:rPr lang="en-GB" sz="3500" dirty="0"/>
              <a:t>,</a:t>
            </a:r>
          </a:p>
          <a:p>
            <a:r>
              <a:rPr lang="en-GB" sz="3500" dirty="0"/>
              <a:t>Aditi Adhikari,</a:t>
            </a:r>
          </a:p>
          <a:p>
            <a:r>
              <a:rPr lang="en-GB" sz="3500" dirty="0"/>
              <a:t>Tuomas Borman,</a:t>
            </a:r>
          </a:p>
          <a:p>
            <a:r>
              <a:rPr lang="en-GB" sz="3500" dirty="0"/>
              <a:t>Leo Lahti</a:t>
            </a:r>
          </a:p>
          <a:p>
            <a:pPr>
              <a:spcBef>
                <a:spcPts val="2000"/>
              </a:spcBef>
            </a:pPr>
            <a:r>
              <a:rPr lang="en-GB" sz="3500" dirty="0"/>
              <a:t>email: </a:t>
            </a:r>
            <a:r>
              <a:rPr lang="en-GB" sz="3500" dirty="0">
                <a:hlinkClick r:id="rId3"/>
              </a:rPr>
              <a:t>giulio.benedetti@utu.fi</a:t>
            </a:r>
            <a:endParaRPr lang="en-GB" sz="35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7C1C68C-66F2-FD52-A8FA-432C84DDFC0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463428" y="37695908"/>
            <a:ext cx="1513757" cy="1672122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9635D836-35BD-A5F4-5543-8B8720867C36}"/>
              </a:ext>
            </a:extLst>
          </p:cNvPr>
          <p:cNvSpPr txBox="1"/>
          <p:nvPr/>
        </p:nvSpPr>
        <p:spPr>
          <a:xfrm>
            <a:off x="1572974" y="6560128"/>
            <a:ext cx="3567195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0" b="1" dirty="0">
                <a:solidFill>
                  <a:schemeClr val="accent2"/>
                </a:solidFill>
              </a:rPr>
              <a:t>The problem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A272154-EA2F-DD1A-757F-F2B165D58703}"/>
              </a:ext>
            </a:extLst>
          </p:cNvPr>
          <p:cNvSpPr txBox="1"/>
          <p:nvPr/>
        </p:nvSpPr>
        <p:spPr>
          <a:xfrm>
            <a:off x="1572973" y="7371798"/>
            <a:ext cx="12977126" cy="24006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DE" sz="3000" dirty="0"/>
              <a:t>Sometimes biology seems like a huge labyrinth with no simple paths between its different items (genes, proteins, organisms, etc.). Even when the path to take is clear, many obstacles may hide on the way: sluggish server responses, massive file volumes, incompatible data formats, just to name a few. Crossing the labyrinth without a strategy is a seriously boring and discouraging task.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91B32AC-E70D-68E0-A440-DEBDC0EF5AFC}"/>
              </a:ext>
            </a:extLst>
          </p:cNvPr>
          <p:cNvSpPr/>
          <p:nvPr/>
        </p:nvSpPr>
        <p:spPr>
          <a:xfrm>
            <a:off x="-29113" y="40962937"/>
            <a:ext cx="30304326" cy="1866634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400" b="0" i="0" dirty="0">
                <a:solidFill>
                  <a:schemeClr val="bg1"/>
                </a:solidFill>
                <a:effectLst/>
                <a:latin typeface="Atkinson Hyperlegible"/>
              </a:rPr>
              <a:t>	References:</a:t>
            </a:r>
          </a:p>
          <a:p>
            <a:r>
              <a:rPr lang="en-GB" sz="2400" dirty="0">
                <a:solidFill>
                  <a:schemeClr val="bg1"/>
                </a:solidFill>
                <a:latin typeface="Atkinson Hyperlegible"/>
              </a:rPr>
              <a:t>	1. </a:t>
            </a:r>
            <a:r>
              <a:rPr lang="en-DE" sz="2400" dirty="0"/>
              <a:t>Borman, T., Benedetti, G., Muluh, G., Raulo, A., Valderrama, B., Sannikov, A., ... &amp; Lahti, L. (2025). Orchestrating Microbiome Analysis with Bioconductor. </a:t>
            </a:r>
            <a:r>
              <a:rPr lang="en-DE" sz="2400" i="1" dirty="0"/>
              <a:t>bioRxiv</a:t>
            </a:r>
            <a:r>
              <a:rPr lang="en-DE" sz="2400" dirty="0"/>
              <a:t>. 10.1101/2025.10.29.685036.</a:t>
            </a:r>
            <a:endParaRPr lang="en-GB" sz="2400" b="0" i="0" dirty="0">
              <a:solidFill>
                <a:schemeClr val="bg1"/>
              </a:solidFill>
              <a:effectLst/>
              <a:latin typeface="Atkinson Hyperlegible"/>
            </a:endParaRPr>
          </a:p>
          <a:p>
            <a:r>
              <a:rPr lang="en-GB" sz="2400" b="0" i="0" dirty="0">
                <a:solidFill>
                  <a:schemeClr val="bg1"/>
                </a:solidFill>
                <a:effectLst/>
              </a:rPr>
              <a:t>	2. </a:t>
            </a:r>
            <a:r>
              <a:rPr lang="en-GB" sz="2400" dirty="0"/>
              <a:t>Benedetti, G., </a:t>
            </a:r>
            <a:r>
              <a:rPr lang="en-GB" sz="2400" dirty="0" err="1"/>
              <a:t>Bastiaanssen</a:t>
            </a:r>
            <a:r>
              <a:rPr lang="en-GB" sz="2400" dirty="0"/>
              <a:t>, T., &amp; Lahti, L. (2026). </a:t>
            </a:r>
            <a:r>
              <a:rPr lang="en-GB" sz="2400" dirty="0" err="1"/>
              <a:t>ariadneDB</a:t>
            </a:r>
            <a:r>
              <a:rPr lang="en-GB" sz="2400" dirty="0"/>
              <a:t> [Data set]. </a:t>
            </a:r>
            <a:r>
              <a:rPr lang="en-GB" sz="2400" i="1" dirty="0" err="1"/>
              <a:t>Zenodo</a:t>
            </a:r>
            <a:r>
              <a:rPr lang="en-GB" sz="2400" dirty="0"/>
              <a:t>. 10.5281/zenodo.18788725.</a:t>
            </a:r>
            <a:endParaRPr lang="en-GB" sz="2400" b="0" i="0" dirty="0">
              <a:solidFill>
                <a:schemeClr val="bg1"/>
              </a:solidFill>
              <a:effectLst/>
            </a:endParaRPr>
          </a:p>
          <a:p>
            <a:r>
              <a:rPr lang="en-GB" sz="2400" dirty="0">
                <a:solidFill>
                  <a:schemeClr val="bg1"/>
                </a:solidFill>
                <a:latin typeface="Atkinson Hyperlegible"/>
              </a:rPr>
              <a:t>	3. </a:t>
            </a:r>
            <a:r>
              <a:rPr lang="en-GB" sz="2400" dirty="0"/>
              <a:t>Morgan M, Obenchain V, Hester J, </a:t>
            </a:r>
            <a:r>
              <a:rPr lang="en-GB" sz="2400" dirty="0" err="1"/>
              <a:t>Pagès</a:t>
            </a:r>
            <a:r>
              <a:rPr lang="en-GB" sz="2400" dirty="0"/>
              <a:t> H (2026). </a:t>
            </a:r>
            <a:r>
              <a:rPr lang="en-GB" sz="2400" dirty="0" err="1"/>
              <a:t>SummarizedExperiment</a:t>
            </a:r>
            <a:r>
              <a:rPr lang="en-GB" sz="2400" dirty="0"/>
              <a:t>: A container (S4 class) for matrix-like assays. </a:t>
            </a:r>
            <a:r>
              <a:rPr lang="en-GB" sz="2400" i="1" dirty="0"/>
              <a:t>Bioconductor</a:t>
            </a:r>
            <a:r>
              <a:rPr lang="en-GB" sz="2400" dirty="0"/>
              <a:t>. 10.18129/B9.bioc.SummarizedExperiment.</a:t>
            </a:r>
            <a:endParaRPr lang="en-GB" sz="2400" dirty="0">
              <a:solidFill>
                <a:schemeClr val="bg1"/>
              </a:solidFill>
              <a:latin typeface="Atkinson Hyperlegible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28BB32C-B4C4-6672-C9E5-33948F950385}"/>
              </a:ext>
            </a:extLst>
          </p:cNvPr>
          <p:cNvSpPr txBox="1"/>
          <p:nvPr/>
        </p:nvSpPr>
        <p:spPr>
          <a:xfrm>
            <a:off x="15725115" y="6565037"/>
            <a:ext cx="7558087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5000" b="1" dirty="0">
                <a:solidFill>
                  <a:schemeClr val="accent2"/>
                </a:solidFill>
              </a:rPr>
              <a:t>The framework</a:t>
            </a:r>
          </a:p>
        </p:txBody>
      </p:sp>
      <p:pic>
        <p:nvPicPr>
          <p:cNvPr id="22" name="Picture 21" descr="A black and white logo&#10;&#10;Description automatically generated">
            <a:extLst>
              <a:ext uri="{FF2B5EF4-FFF2-40B4-BE49-F238E27FC236}">
                <a16:creationId xmlns:a16="http://schemas.microsoft.com/office/drawing/2014/main" id="{5AA7CA93-499B-4F65-ED66-C08902FAB10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4589" y="612526"/>
            <a:ext cx="4947844" cy="1417351"/>
          </a:xfrm>
          <a:prstGeom prst="rect">
            <a:avLst/>
          </a:prstGeom>
        </p:spPr>
      </p:pic>
      <p:sp>
        <p:nvSpPr>
          <p:cNvPr id="29" name="TextBox 28">
            <a:extLst>
              <a:ext uri="{FF2B5EF4-FFF2-40B4-BE49-F238E27FC236}">
                <a16:creationId xmlns:a16="http://schemas.microsoft.com/office/drawing/2014/main" id="{178ABAB1-C294-4A48-8BA5-71E352AF3D82}"/>
              </a:ext>
            </a:extLst>
          </p:cNvPr>
          <p:cNvSpPr txBox="1"/>
          <p:nvPr/>
        </p:nvSpPr>
        <p:spPr>
          <a:xfrm>
            <a:off x="1622272" y="13465542"/>
            <a:ext cx="5467203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5000" b="1" dirty="0">
                <a:solidFill>
                  <a:schemeClr val="accent2"/>
                </a:solidFill>
              </a:rPr>
              <a:t>Applications</a:t>
            </a:r>
          </a:p>
        </p:txBody>
      </p:sp>
      <p:pic>
        <p:nvPicPr>
          <p:cNvPr id="11" name="Picture 10" descr="A magnifying glass with bacteria and germs&#10;&#10;AI-generated content may be incorrect.">
            <a:extLst>
              <a:ext uri="{FF2B5EF4-FFF2-40B4-BE49-F238E27FC236}">
                <a16:creationId xmlns:a16="http://schemas.microsoft.com/office/drawing/2014/main" id="{8507E5E7-62AA-0744-D123-DEDE58CF9E8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7635259" y="37668486"/>
            <a:ext cx="1513757" cy="1658638"/>
          </a:xfrm>
          <a:prstGeom prst="rect">
            <a:avLst/>
          </a:prstGeom>
        </p:spPr>
      </p:pic>
      <p:sp>
        <p:nvSpPr>
          <p:cNvPr id="28" name="TextBox 27">
            <a:extLst>
              <a:ext uri="{FF2B5EF4-FFF2-40B4-BE49-F238E27FC236}">
                <a16:creationId xmlns:a16="http://schemas.microsoft.com/office/drawing/2014/main" id="{5DE6CF1D-8D0C-7EB1-18B8-CD4AAAD845F1}"/>
              </a:ext>
            </a:extLst>
          </p:cNvPr>
          <p:cNvSpPr txBox="1"/>
          <p:nvPr/>
        </p:nvSpPr>
        <p:spPr>
          <a:xfrm>
            <a:off x="1569486" y="10824907"/>
            <a:ext cx="12980613" cy="24006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DE" sz="3000" dirty="0"/>
              <a:t>Luckily, ariadne is here to help. By “Assembling Relational Information Across the Database Network”, ariadne provides a harmonised graph of interlinked resources and a rich toolkit to navigate its underexplored paths. This expands the capabilities of the existing </a:t>
            </a:r>
            <a:r>
              <a:rPr lang="en-DE" sz="3000" i="1" dirty="0"/>
              <a:t>mia</a:t>
            </a:r>
            <a:r>
              <a:rPr lang="en-DE" sz="3000" dirty="0"/>
              <a:t> framework with prior public knowledge [1]. The harmonised knowledge graph is reproducible and openly available in </a:t>
            </a:r>
            <a:r>
              <a:rPr lang="en-DE" sz="3000" i="1" dirty="0"/>
              <a:t>ariadneDB</a:t>
            </a:r>
            <a:r>
              <a:rPr lang="en-DE" sz="3000" dirty="0"/>
              <a:t> [2].</a:t>
            </a:r>
            <a:endParaRPr lang="en-GB" sz="3000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8C6D75B9-AAF9-BFD5-AB5A-37F6C6BE6872}"/>
              </a:ext>
            </a:extLst>
          </p:cNvPr>
          <p:cNvSpPr txBox="1"/>
          <p:nvPr/>
        </p:nvSpPr>
        <p:spPr>
          <a:xfrm>
            <a:off x="1572974" y="10013237"/>
            <a:ext cx="3485249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0" b="1" dirty="0">
                <a:solidFill>
                  <a:schemeClr val="accent2"/>
                </a:solidFill>
              </a:rPr>
              <a:t>The solution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D2C5D8A9-49F6-2B1D-3EDC-3547461A1F9A}"/>
              </a:ext>
            </a:extLst>
          </p:cNvPr>
          <p:cNvSpPr/>
          <p:nvPr/>
        </p:nvSpPr>
        <p:spPr>
          <a:xfrm>
            <a:off x="15713041" y="13847720"/>
            <a:ext cx="3157215" cy="30938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ysClr val="windowText" lastClr="000000"/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0F2041A-E8FF-72B4-6FAF-849039125B5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1032429" y="2650885"/>
            <a:ext cx="4031390" cy="403139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57DDF97F-EBD5-E52A-FF31-810C1B6380DD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0560154" y="37679078"/>
            <a:ext cx="1492136" cy="1631216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258A03F9-5B78-328B-EF25-0AB48CC93DC7}"/>
              </a:ext>
            </a:extLst>
          </p:cNvPr>
          <p:cNvSpPr txBox="1"/>
          <p:nvPr/>
        </p:nvSpPr>
        <p:spPr>
          <a:xfrm>
            <a:off x="4392857" y="16715957"/>
            <a:ext cx="7387150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0" b="1" dirty="0">
                <a:solidFill>
                  <a:schemeClr val="accent2"/>
                </a:solidFill>
              </a:rPr>
              <a:t>1. Import knowledge graph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2A18424-5F2A-875E-521F-5B0C79CFECAB}"/>
              </a:ext>
            </a:extLst>
          </p:cNvPr>
          <p:cNvSpPr txBox="1"/>
          <p:nvPr/>
        </p:nvSpPr>
        <p:spPr>
          <a:xfrm>
            <a:off x="17891254" y="16715957"/>
            <a:ext cx="8693342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0" b="1" dirty="0">
                <a:solidFill>
                  <a:schemeClr val="accent2"/>
                </a:solidFill>
              </a:rPr>
              <a:t>2. Explore paths between nodes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1EBC81F-24F1-7E3B-32B6-DDBB6E4FB3A7}"/>
              </a:ext>
            </a:extLst>
          </p:cNvPr>
          <p:cNvSpPr txBox="1"/>
          <p:nvPr/>
        </p:nvSpPr>
        <p:spPr>
          <a:xfrm>
            <a:off x="4910915" y="28910041"/>
            <a:ext cx="6351034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0" b="1" dirty="0">
                <a:solidFill>
                  <a:schemeClr val="accent2"/>
                </a:solidFill>
              </a:rPr>
              <a:t>3. Weave selected path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C535205-CA28-6E2E-173E-9A950BE536EF}"/>
              </a:ext>
            </a:extLst>
          </p:cNvPr>
          <p:cNvSpPr txBox="1"/>
          <p:nvPr/>
        </p:nvSpPr>
        <p:spPr>
          <a:xfrm>
            <a:off x="18150959" y="28910041"/>
            <a:ext cx="8070414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0" b="1" dirty="0">
                <a:solidFill>
                  <a:schemeClr val="accent2"/>
                </a:solidFill>
              </a:rPr>
              <a:t>4. Integrate with your dataset</a:t>
            </a:r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EAE026BB-5680-584B-5A44-08D41ABF2AA7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382739" y="20080551"/>
            <a:ext cx="13407386" cy="7541652"/>
          </a:xfrm>
          <a:prstGeom prst="rect">
            <a:avLst/>
          </a:prstGeom>
        </p:spPr>
      </p:pic>
      <p:sp>
        <p:nvSpPr>
          <p:cNvPr id="44" name="TextBox 43">
            <a:extLst>
              <a:ext uri="{FF2B5EF4-FFF2-40B4-BE49-F238E27FC236}">
                <a16:creationId xmlns:a16="http://schemas.microsoft.com/office/drawing/2014/main" id="{569EA16C-800C-0F46-70D4-1F416D8A2C87}"/>
              </a:ext>
            </a:extLst>
          </p:cNvPr>
          <p:cNvSpPr txBox="1"/>
          <p:nvPr/>
        </p:nvSpPr>
        <p:spPr>
          <a:xfrm>
            <a:off x="5108694" y="17728824"/>
            <a:ext cx="5955476" cy="2400657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28575">
            <a:solidFill>
              <a:schemeClr val="accent2">
                <a:lumMod val="40000"/>
                <a:lumOff val="60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GB" sz="3000" dirty="0">
                <a:latin typeface="Courier New" panose="02070309020205020404" pitchFamily="49" charset="0"/>
                <a:cs typeface="Courier New" panose="02070309020205020404" pitchFamily="49" charset="0"/>
              </a:rPr>
              <a:t># Import </a:t>
            </a:r>
            <a:r>
              <a:rPr lang="en-GB" sz="3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ariadne</a:t>
            </a:r>
            <a:r>
              <a:rPr lang="en-GB" sz="3000" dirty="0">
                <a:latin typeface="Courier New" panose="02070309020205020404" pitchFamily="49" charset="0"/>
                <a:cs typeface="Courier New" panose="02070309020205020404" pitchFamily="49" charset="0"/>
              </a:rPr>
              <a:t> database</a:t>
            </a:r>
          </a:p>
          <a:p>
            <a:r>
              <a:rPr lang="en-GB" sz="3000" dirty="0">
                <a:latin typeface="Courier New" panose="02070309020205020404" pitchFamily="49" charset="0"/>
                <a:cs typeface="Courier New" panose="02070309020205020404" pitchFamily="49" charset="0"/>
              </a:rPr>
              <a:t>graph &lt;- </a:t>
            </a:r>
            <a:r>
              <a:rPr lang="en-GB" sz="3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ariadne</a:t>
            </a:r>
            <a:r>
              <a:rPr lang="en-GB" sz="3000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endParaRPr lang="en-GB" sz="3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GB" sz="3000" dirty="0">
                <a:latin typeface="Courier New" panose="02070309020205020404" pitchFamily="49" charset="0"/>
                <a:cs typeface="Courier New" panose="02070309020205020404" pitchFamily="49" charset="0"/>
              </a:rPr>
              <a:t># View knowledge graph</a:t>
            </a:r>
          </a:p>
          <a:p>
            <a:r>
              <a:rPr lang="en-GB" sz="3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plotPath</a:t>
            </a:r>
            <a:r>
              <a:rPr lang="en-GB" sz="3000" dirty="0">
                <a:latin typeface="Courier New" panose="02070309020205020404" pitchFamily="49" charset="0"/>
                <a:cs typeface="Courier New" panose="02070309020205020404" pitchFamily="49" charset="0"/>
              </a:rPr>
              <a:t>(graph)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0E5C1CA6-3D91-4711-A50C-A7C3A5D16DBE}"/>
              </a:ext>
            </a:extLst>
          </p:cNvPr>
          <p:cNvSpPr txBox="1"/>
          <p:nvPr/>
        </p:nvSpPr>
        <p:spPr>
          <a:xfrm>
            <a:off x="18631345" y="29956700"/>
            <a:ext cx="7109639" cy="1015663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28575">
            <a:solidFill>
              <a:schemeClr val="accent2">
                <a:lumMod val="40000"/>
                <a:lumOff val="60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GB" sz="3000" dirty="0">
                <a:latin typeface="Courier New" panose="02070309020205020404" pitchFamily="49" charset="0"/>
                <a:cs typeface="Courier New" panose="02070309020205020404" pitchFamily="49" charset="0"/>
              </a:rPr>
              <a:t># Annotate dataset rows</a:t>
            </a:r>
          </a:p>
          <a:p>
            <a:r>
              <a:rPr lang="en-GB" sz="3000" dirty="0">
                <a:latin typeface="Courier New" panose="02070309020205020404" pitchFamily="49" charset="0"/>
                <a:cs typeface="Courier New" panose="02070309020205020404" pitchFamily="49" charset="0"/>
              </a:rPr>
              <a:t>se &lt;- </a:t>
            </a:r>
            <a:r>
              <a:rPr lang="en-GB" sz="3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addModules</a:t>
            </a:r>
            <a:r>
              <a:rPr lang="en-GB" sz="3000" dirty="0">
                <a:latin typeface="Courier New" panose="02070309020205020404" pitchFamily="49" charset="0"/>
                <a:cs typeface="Courier New" panose="02070309020205020404" pitchFamily="49" charset="0"/>
              </a:rPr>
              <a:t>(se, tax2path)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E9EEA362-2B75-E7EE-355F-5FE71DB371FF}"/>
              </a:ext>
            </a:extLst>
          </p:cNvPr>
          <p:cNvSpPr txBox="1"/>
          <p:nvPr/>
        </p:nvSpPr>
        <p:spPr>
          <a:xfrm>
            <a:off x="17130936" y="17728825"/>
            <a:ext cx="10110460" cy="2400657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28575">
            <a:solidFill>
              <a:schemeClr val="accent2">
                <a:lumMod val="40000"/>
                <a:lumOff val="60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GB" sz="3000" dirty="0">
                <a:latin typeface="Courier New" panose="02070309020205020404" pitchFamily="49" charset="0"/>
                <a:cs typeface="Courier New" panose="02070309020205020404" pitchFamily="49" charset="0"/>
              </a:rPr>
              <a:t># Search 5 shortest paths</a:t>
            </a:r>
          </a:p>
          <a:p>
            <a:r>
              <a:rPr lang="en-GB" sz="3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searchPath</a:t>
            </a:r>
            <a:r>
              <a:rPr lang="en-GB" sz="3000" dirty="0">
                <a:latin typeface="Courier New" panose="02070309020205020404" pitchFamily="49" charset="0"/>
                <a:cs typeface="Courier New" panose="02070309020205020404" pitchFamily="49" charset="0"/>
              </a:rPr>
              <a:t>(graph, </a:t>
            </a:r>
            <a:r>
              <a:rPr lang="en-GB" sz="3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taxid</a:t>
            </a:r>
            <a:r>
              <a:rPr lang="en-GB" sz="3000" dirty="0">
                <a:latin typeface="Courier New" panose="02070309020205020404" pitchFamily="49" charset="0"/>
                <a:cs typeface="Courier New" panose="02070309020205020404" pitchFamily="49" charset="0"/>
              </a:rPr>
              <a:t> ~ </a:t>
            </a:r>
            <a:r>
              <a:rPr lang="en-GB" sz="3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kegg_path</a:t>
            </a:r>
            <a:r>
              <a:rPr lang="en-GB" sz="3000" dirty="0">
                <a:latin typeface="Courier New" panose="02070309020205020404" pitchFamily="49" charset="0"/>
                <a:cs typeface="Courier New" panose="02070309020205020404" pitchFamily="49" charset="0"/>
              </a:rPr>
              <a:t>, k = 5)</a:t>
            </a:r>
          </a:p>
          <a:p>
            <a:endParaRPr lang="en-GB" sz="3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GB" sz="3000" dirty="0">
                <a:latin typeface="Courier New" panose="02070309020205020404" pitchFamily="49" charset="0"/>
                <a:cs typeface="Courier New" panose="02070309020205020404" pitchFamily="49" charset="0"/>
              </a:rPr>
              <a:t># View 4</a:t>
            </a:r>
            <a:r>
              <a:rPr lang="en-GB" sz="3000" baseline="30000" dirty="0">
                <a:latin typeface="Courier New" panose="02070309020205020404" pitchFamily="49" charset="0"/>
                <a:cs typeface="Courier New" panose="02070309020205020404" pitchFamily="49" charset="0"/>
              </a:rPr>
              <a:t>th</a:t>
            </a:r>
            <a:r>
              <a:rPr lang="en-GB" sz="3000" dirty="0">
                <a:latin typeface="Courier New" panose="02070309020205020404" pitchFamily="49" charset="0"/>
                <a:cs typeface="Courier New" panose="02070309020205020404" pitchFamily="49" charset="0"/>
              </a:rPr>
              <a:t> shortest path</a:t>
            </a:r>
          </a:p>
          <a:p>
            <a:r>
              <a:rPr lang="en-GB" sz="3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plotPath</a:t>
            </a:r>
            <a:r>
              <a:rPr lang="en-GB" sz="3000" dirty="0">
                <a:latin typeface="Courier New" panose="02070309020205020404" pitchFamily="49" charset="0"/>
                <a:cs typeface="Courier New" panose="02070309020205020404" pitchFamily="49" charset="0"/>
              </a:rPr>
              <a:t>(graph, </a:t>
            </a:r>
            <a:r>
              <a:rPr lang="en-GB" sz="3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taxid</a:t>
            </a:r>
            <a:r>
              <a:rPr lang="en-GB" sz="3000" dirty="0">
                <a:latin typeface="Courier New" panose="02070309020205020404" pitchFamily="49" charset="0"/>
                <a:cs typeface="Courier New" panose="02070309020205020404" pitchFamily="49" charset="0"/>
              </a:rPr>
              <a:t> ~ </a:t>
            </a:r>
            <a:r>
              <a:rPr lang="en-GB" sz="3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kegg_path</a:t>
            </a:r>
            <a:r>
              <a:rPr lang="en-GB" sz="3000" dirty="0">
                <a:latin typeface="Courier New" panose="02070309020205020404" pitchFamily="49" charset="0"/>
                <a:cs typeface="Courier New" panose="02070309020205020404" pitchFamily="49" charset="0"/>
              </a:rPr>
              <a:t>, k = 4)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B00A0BBF-1C00-B2BF-ACF7-8922F583B9DB}"/>
              </a:ext>
            </a:extLst>
          </p:cNvPr>
          <p:cNvSpPr txBox="1"/>
          <p:nvPr/>
        </p:nvSpPr>
        <p:spPr>
          <a:xfrm>
            <a:off x="26095434" y="37828506"/>
            <a:ext cx="1069524" cy="16312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0000" dirty="0"/>
              <a:t>…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4AC507A5-F396-C9DF-5CA2-7A567760997D}"/>
              </a:ext>
            </a:extLst>
          </p:cNvPr>
          <p:cNvSpPr txBox="1"/>
          <p:nvPr/>
        </p:nvSpPr>
        <p:spPr>
          <a:xfrm>
            <a:off x="2196648" y="29956700"/>
            <a:ext cx="11726287" cy="4247317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28575" cap="flat">
            <a:solidFill>
              <a:schemeClr val="accent2">
                <a:lumMod val="40000"/>
                <a:lumOff val="60000"/>
              </a:schemeClr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11726287"/>
                      <a:gd name="csY0" fmla="*/ 0 h 4247317"/>
                      <a:gd name="csX1" fmla="*/ 11726287 w 11726287"/>
                      <a:gd name="csY1" fmla="*/ 0 h 4247317"/>
                      <a:gd name="csX2" fmla="*/ 11726287 w 11726287"/>
                      <a:gd name="csY2" fmla="*/ 4247317 h 4247317"/>
                      <a:gd name="csX3" fmla="*/ 0 w 11726287"/>
                      <a:gd name="csY3" fmla="*/ 4247317 h 4247317"/>
                      <a:gd name="csX4" fmla="*/ 0 w 11726287"/>
                      <a:gd name="csY4" fmla="*/ 0 h 4247317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11726287" h="4247317" fill="none" extrusionOk="0">
                        <a:moveTo>
                          <a:pt x="0" y="0"/>
                        </a:moveTo>
                        <a:cubicBezTo>
                          <a:pt x="1248195" y="-49533"/>
                          <a:pt x="9889593" y="-14809"/>
                          <a:pt x="11726287" y="0"/>
                        </a:cubicBezTo>
                        <a:cubicBezTo>
                          <a:pt x="11813926" y="2018612"/>
                          <a:pt x="11653608" y="2397025"/>
                          <a:pt x="11726287" y="4247317"/>
                        </a:cubicBezTo>
                        <a:cubicBezTo>
                          <a:pt x="9249632" y="4199086"/>
                          <a:pt x="2892545" y="4331772"/>
                          <a:pt x="0" y="4247317"/>
                        </a:cubicBezTo>
                        <a:cubicBezTo>
                          <a:pt x="-38581" y="2785428"/>
                          <a:pt x="63341" y="1373864"/>
                          <a:pt x="0" y="0"/>
                        </a:cubicBezTo>
                        <a:close/>
                      </a:path>
                      <a:path w="11726287" h="4247317" stroke="0" extrusionOk="0">
                        <a:moveTo>
                          <a:pt x="0" y="0"/>
                        </a:moveTo>
                        <a:cubicBezTo>
                          <a:pt x="3585005" y="118645"/>
                          <a:pt x="7219854" y="116012"/>
                          <a:pt x="11726287" y="0"/>
                        </a:cubicBezTo>
                        <a:cubicBezTo>
                          <a:pt x="11593405" y="1680520"/>
                          <a:pt x="11811238" y="2207226"/>
                          <a:pt x="11726287" y="4247317"/>
                        </a:cubicBezTo>
                        <a:cubicBezTo>
                          <a:pt x="9343535" y="4381917"/>
                          <a:pt x="2145646" y="4090121"/>
                          <a:pt x="0" y="4247317"/>
                        </a:cubicBezTo>
                        <a:cubicBezTo>
                          <a:pt x="-20187" y="3733575"/>
                          <a:pt x="-152480" y="1797474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txBody>
          <a:bodyPr wrap="none" rtlCol="0">
            <a:spAutoFit/>
          </a:bodyPr>
          <a:lstStyle/>
          <a:p>
            <a:r>
              <a:rPr lang="en-GB" sz="3000" dirty="0">
                <a:latin typeface="Courier New" panose="02070309020205020404" pitchFamily="49" charset="0"/>
                <a:cs typeface="Courier New" panose="02070309020205020404" pitchFamily="49" charset="0"/>
              </a:rPr>
              <a:t># Get simple links between taxa and KEGG pathways</a:t>
            </a:r>
          </a:p>
          <a:p>
            <a:r>
              <a:rPr lang="en-GB" sz="3000" dirty="0">
                <a:latin typeface="Courier New" panose="02070309020205020404" pitchFamily="49" charset="0"/>
                <a:cs typeface="Courier New" panose="02070309020205020404" pitchFamily="49" charset="0"/>
              </a:rPr>
              <a:t>tax2path &lt;- </a:t>
            </a:r>
            <a:r>
              <a:rPr lang="en-GB" sz="3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weavePath</a:t>
            </a:r>
            <a:r>
              <a:rPr lang="en-GB" sz="30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</a:p>
          <a:p>
            <a:r>
              <a:rPr lang="en-GB" sz="3000" dirty="0">
                <a:latin typeface="Courier New" panose="02070309020205020404" pitchFamily="49" charset="0"/>
                <a:cs typeface="Courier New" panose="02070309020205020404" pitchFamily="49" charset="0"/>
              </a:rPr>
              <a:t>		graph, </a:t>
            </a:r>
            <a:r>
              <a:rPr lang="en-GB" sz="3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taxid</a:t>
            </a:r>
            <a:r>
              <a:rPr lang="en-GB" sz="3000" dirty="0">
                <a:latin typeface="Courier New" panose="02070309020205020404" pitchFamily="49" charset="0"/>
                <a:cs typeface="Courier New" panose="02070309020205020404" pitchFamily="49" charset="0"/>
              </a:rPr>
              <a:t> ~ </a:t>
            </a:r>
            <a:r>
              <a:rPr lang="en-GB" sz="3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kegg_path</a:t>
            </a:r>
            <a:r>
              <a:rPr lang="en-GB" sz="3000" dirty="0">
                <a:latin typeface="Courier New" panose="02070309020205020404" pitchFamily="49" charset="0"/>
                <a:cs typeface="Courier New" panose="02070309020205020404" pitchFamily="49" charset="0"/>
              </a:rPr>
              <a:t>, k = 4</a:t>
            </a:r>
          </a:p>
          <a:p>
            <a:r>
              <a:rPr lang="en-GB" sz="30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endParaRPr lang="en-GB" sz="3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GB" sz="3000" dirty="0">
                <a:latin typeface="Courier New" panose="02070309020205020404" pitchFamily="49" charset="0"/>
                <a:cs typeface="Courier New" panose="02070309020205020404" pitchFamily="49" charset="0"/>
              </a:rPr>
              <a:t># Get complex links between taxa and KEGG pathways</a:t>
            </a:r>
          </a:p>
          <a:p>
            <a:r>
              <a:rPr lang="en-GB" sz="3000" dirty="0">
                <a:latin typeface="Courier New" panose="02070309020205020404" pitchFamily="49" charset="0"/>
                <a:cs typeface="Courier New" panose="02070309020205020404" pitchFamily="49" charset="0"/>
              </a:rPr>
              <a:t>tax2path &lt;- </a:t>
            </a:r>
            <a:r>
              <a:rPr lang="en-GB" sz="3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weaveComplex</a:t>
            </a:r>
            <a:r>
              <a:rPr lang="en-GB" sz="30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</a:p>
          <a:p>
            <a:r>
              <a:rPr lang="en-GB" sz="3000" dirty="0">
                <a:latin typeface="Courier New" panose="02070309020205020404" pitchFamily="49" charset="0"/>
                <a:cs typeface="Courier New" panose="02070309020205020404" pitchFamily="49" charset="0"/>
              </a:rPr>
              <a:t>		graph, </a:t>
            </a:r>
            <a:r>
              <a:rPr lang="en-GB" sz="3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taxid</a:t>
            </a:r>
            <a:r>
              <a:rPr lang="en-GB" sz="3000" dirty="0">
                <a:latin typeface="Courier New" panose="02070309020205020404" pitchFamily="49" charset="0"/>
                <a:cs typeface="Courier New" panose="02070309020205020404" pitchFamily="49" charset="0"/>
              </a:rPr>
              <a:t> ~ </a:t>
            </a:r>
            <a:r>
              <a:rPr lang="en-GB" sz="3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kegg_path</a:t>
            </a:r>
            <a:r>
              <a:rPr lang="en-GB" sz="3000" dirty="0">
                <a:latin typeface="Courier New" panose="02070309020205020404" pitchFamily="49" charset="0"/>
                <a:cs typeface="Courier New" panose="02070309020205020404" pitchFamily="49" charset="0"/>
              </a:rPr>
              <a:t>, k = 4</a:t>
            </a:r>
          </a:p>
          <a:p>
            <a:r>
              <a:rPr lang="en-GB" sz="30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</p:txBody>
      </p:sp>
      <p:pic>
        <p:nvPicPr>
          <p:cNvPr id="61" name="Picture 60">
            <a:extLst>
              <a:ext uri="{FF2B5EF4-FFF2-40B4-BE49-F238E27FC236}">
                <a16:creationId xmlns:a16="http://schemas.microsoft.com/office/drawing/2014/main" id="{12DBD169-D4C6-E025-0AFD-ED076607B571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5332244" y="3717359"/>
            <a:ext cx="5317013" cy="1968768"/>
          </a:xfrm>
          <a:prstGeom prst="rect">
            <a:avLst/>
          </a:prstGeom>
        </p:spPr>
      </p:pic>
      <p:graphicFrame>
        <p:nvGraphicFramePr>
          <p:cNvPr id="1024" name="Table 1023">
            <a:extLst>
              <a:ext uri="{FF2B5EF4-FFF2-40B4-BE49-F238E27FC236}">
                <a16:creationId xmlns:a16="http://schemas.microsoft.com/office/drawing/2014/main" id="{953D1426-0FF8-590D-7B68-B4D663F7521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96751999"/>
              </p:ext>
            </p:extLst>
          </p:nvPr>
        </p:nvGraphicFramePr>
        <p:xfrm>
          <a:off x="5149989" y="35529680"/>
          <a:ext cx="5819604" cy="3930042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2909802">
                  <a:extLst>
                    <a:ext uri="{9D8B030D-6E8A-4147-A177-3AD203B41FA5}">
                      <a16:colId xmlns:a16="http://schemas.microsoft.com/office/drawing/2014/main" val="900627522"/>
                    </a:ext>
                  </a:extLst>
                </a:gridCol>
                <a:gridCol w="2909802">
                  <a:extLst>
                    <a:ext uri="{9D8B030D-6E8A-4147-A177-3AD203B41FA5}">
                      <a16:colId xmlns:a16="http://schemas.microsoft.com/office/drawing/2014/main" val="273656037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GB" sz="3000" dirty="0" err="1"/>
                        <a:t>taxid</a:t>
                      </a:r>
                      <a:endParaRPr lang="en-GB" sz="3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000" dirty="0" err="1"/>
                        <a:t>kegg_path</a:t>
                      </a:r>
                      <a:endParaRPr lang="en-GB" sz="3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29619783"/>
                  </a:ext>
                </a:extLst>
              </a:tr>
              <a:tr h="563567">
                <a:tc>
                  <a:txBody>
                    <a:bodyPr/>
                    <a:lstStyle/>
                    <a:p>
                      <a:r>
                        <a:rPr lang="en-DE" sz="30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216816</a:t>
                      </a:r>
                      <a:endParaRPr lang="en-GB" sz="3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DE" sz="30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map05205</a:t>
                      </a:r>
                      <a:endParaRPr lang="en-GB" sz="3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46177257"/>
                  </a:ext>
                </a:extLst>
              </a:tr>
              <a:tr h="563567">
                <a:tc>
                  <a:txBody>
                    <a:bodyPr/>
                    <a:lstStyle/>
                    <a:p>
                      <a:r>
                        <a:rPr lang="en-DE" sz="30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216816</a:t>
                      </a:r>
                      <a:endParaRPr lang="en-GB" sz="3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DE" sz="30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map05418</a:t>
                      </a:r>
                      <a:endParaRPr lang="en-GB" sz="3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46757863"/>
                  </a:ext>
                </a:extLst>
              </a:tr>
              <a:tr h="563567">
                <a:tc>
                  <a:txBody>
                    <a:bodyPr/>
                    <a:lstStyle/>
                    <a:p>
                      <a:r>
                        <a:rPr lang="en-DE" sz="30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216816</a:t>
                      </a:r>
                      <a:endParaRPr lang="en-GB" sz="3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DE" sz="30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map00030</a:t>
                      </a:r>
                      <a:endParaRPr lang="en-GB" sz="3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55025958"/>
                  </a:ext>
                </a:extLst>
              </a:tr>
              <a:tr h="563567">
                <a:tc>
                  <a:txBody>
                    <a:bodyPr/>
                    <a:lstStyle/>
                    <a:p>
                      <a:r>
                        <a:rPr lang="en-DE" sz="30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47715</a:t>
                      </a:r>
                      <a:endParaRPr lang="en-GB" sz="3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DE" sz="30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map00051</a:t>
                      </a:r>
                      <a:endParaRPr lang="en-GB" sz="3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78281483"/>
                  </a:ext>
                </a:extLst>
              </a:tr>
              <a:tr h="563567">
                <a:tc>
                  <a:txBody>
                    <a:bodyPr/>
                    <a:lstStyle/>
                    <a:p>
                      <a:r>
                        <a:rPr lang="en-DE" sz="30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47715</a:t>
                      </a:r>
                      <a:endParaRPr lang="en-GB" sz="3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DE" sz="30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map00052</a:t>
                      </a:r>
                      <a:endParaRPr lang="en-GB" sz="3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36973921"/>
                  </a:ext>
                </a:extLst>
              </a:tr>
              <a:tr h="563567">
                <a:tc>
                  <a:txBody>
                    <a:bodyPr/>
                    <a:lstStyle/>
                    <a:p>
                      <a:r>
                        <a:rPr lang="en-DE" sz="30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47715</a:t>
                      </a:r>
                      <a:endParaRPr lang="en-GB" sz="3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DE" sz="30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map00061</a:t>
                      </a:r>
                      <a:endParaRPr lang="en-GB" sz="3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31149489"/>
                  </a:ext>
                </a:extLst>
              </a:tr>
            </a:tbl>
          </a:graphicData>
        </a:graphic>
      </p:graphicFrame>
      <p:sp>
        <p:nvSpPr>
          <p:cNvPr id="1025" name="TextBox 1024">
            <a:extLst>
              <a:ext uri="{FF2B5EF4-FFF2-40B4-BE49-F238E27FC236}">
                <a16:creationId xmlns:a16="http://schemas.microsoft.com/office/drawing/2014/main" id="{C86491D8-36E0-8CB1-84B8-6514935E03AA}"/>
              </a:ext>
            </a:extLst>
          </p:cNvPr>
          <p:cNvSpPr txBox="1"/>
          <p:nvPr/>
        </p:nvSpPr>
        <p:spPr>
          <a:xfrm>
            <a:off x="25943785" y="36570657"/>
            <a:ext cx="18573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Adapted from [3].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559A19E-D384-DD0D-AF28-B85C8237638A}"/>
              </a:ext>
            </a:extLst>
          </p:cNvPr>
          <p:cNvSpPr txBox="1"/>
          <p:nvPr/>
        </p:nvSpPr>
        <p:spPr>
          <a:xfrm>
            <a:off x="15725114" y="7371798"/>
            <a:ext cx="6327164" cy="30162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1200"/>
              </a:spcAft>
            </a:pPr>
            <a:r>
              <a:rPr lang="en-GB" sz="3000" i="1" dirty="0" err="1"/>
              <a:t>ariadne</a:t>
            </a:r>
            <a:r>
              <a:rPr lang="en-GB" sz="3000" dirty="0"/>
              <a:t> technical summary: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000" dirty="0"/>
              <a:t>Graph database built with </a:t>
            </a:r>
            <a:r>
              <a:rPr lang="en-GB" sz="3000" i="1" dirty="0" err="1"/>
              <a:t>igraph</a:t>
            </a:r>
            <a:endParaRPr lang="en-GB" sz="3000" dirty="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000" dirty="0"/>
              <a:t>Fast data retrieval with SPARQL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000" dirty="0"/>
              <a:t>Efficient storage with </a:t>
            </a:r>
            <a:r>
              <a:rPr lang="en-GB" sz="3000" i="1" dirty="0"/>
              <a:t>arrow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000" dirty="0"/>
              <a:t>High performance with </a:t>
            </a:r>
            <a:r>
              <a:rPr lang="en-GB" sz="3000" i="1" dirty="0" err="1"/>
              <a:t>data.table</a:t>
            </a:r>
            <a:endParaRPr lang="en-GB" sz="3000" i="1" dirty="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000" dirty="0"/>
              <a:t>Weaving paths with </a:t>
            </a:r>
            <a:r>
              <a:rPr lang="en-GB" sz="3000" i="1" dirty="0" err="1"/>
              <a:t>MultiFactor</a:t>
            </a:r>
            <a:endParaRPr lang="en-GB" sz="3000" i="1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04074AC-253C-9D06-F3F0-3AD8678C8BF3}"/>
              </a:ext>
            </a:extLst>
          </p:cNvPr>
          <p:cNvSpPr txBox="1"/>
          <p:nvPr/>
        </p:nvSpPr>
        <p:spPr>
          <a:xfrm>
            <a:off x="22792682" y="8757097"/>
            <a:ext cx="1746632" cy="553998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sz="3000" i="1" dirty="0" err="1">
                <a:solidFill>
                  <a:schemeClr val="accent1"/>
                </a:solidFill>
              </a:rPr>
              <a:t>ariadnePy</a:t>
            </a:r>
            <a:endParaRPr lang="en-GB" sz="3000" i="1" dirty="0">
              <a:solidFill>
                <a:schemeClr val="accent1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393DC5F-B250-3797-685B-73FF36E93004}"/>
              </a:ext>
            </a:extLst>
          </p:cNvPr>
          <p:cNvSpPr txBox="1"/>
          <p:nvPr/>
        </p:nvSpPr>
        <p:spPr>
          <a:xfrm>
            <a:off x="26363851" y="8757097"/>
            <a:ext cx="1997663" cy="553998"/>
          </a:xfrm>
          <a:prstGeom prst="rect">
            <a:avLst/>
          </a:prstGeom>
          <a:noFill/>
          <a:ln w="38100">
            <a:solidFill>
              <a:schemeClr val="accent4"/>
            </a:solidFill>
          </a:ln>
        </p:spPr>
        <p:txBody>
          <a:bodyPr wrap="none" rtlCol="0">
            <a:spAutoFit/>
          </a:bodyPr>
          <a:lstStyle/>
          <a:p>
            <a:r>
              <a:rPr lang="en-GB" sz="3000" i="1" dirty="0" err="1">
                <a:solidFill>
                  <a:schemeClr val="accent4"/>
                </a:solidFill>
              </a:rPr>
              <a:t>ariadneApp</a:t>
            </a:r>
            <a:endParaRPr lang="en-GB" sz="3000" i="1" dirty="0">
              <a:solidFill>
                <a:schemeClr val="accent4"/>
              </a:solidFill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323D6F8-19C4-BC14-95BB-28B64BFDF632}"/>
              </a:ext>
            </a:extLst>
          </p:cNvPr>
          <p:cNvSpPr txBox="1"/>
          <p:nvPr/>
        </p:nvSpPr>
        <p:spPr>
          <a:xfrm>
            <a:off x="24539313" y="10530535"/>
            <a:ext cx="1824538" cy="553998"/>
          </a:xfrm>
          <a:prstGeom prst="rect">
            <a:avLst/>
          </a:prstGeom>
          <a:noFill/>
          <a:ln w="38100">
            <a:solidFill>
              <a:schemeClr val="accent3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GB" sz="3000" i="1" dirty="0" err="1">
                <a:solidFill>
                  <a:schemeClr val="accent3">
                    <a:lumMod val="75000"/>
                  </a:schemeClr>
                </a:solidFill>
              </a:rPr>
              <a:t>ariadneDB</a:t>
            </a:r>
            <a:endParaRPr lang="en-GB" sz="3000" i="1" dirty="0">
              <a:solidFill>
                <a:schemeClr val="accent3">
                  <a:lumMod val="75000"/>
                </a:schemeClr>
              </a:solidFill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9D731E4-8557-35E1-C1A4-63ADCF214DD4}"/>
              </a:ext>
            </a:extLst>
          </p:cNvPr>
          <p:cNvSpPr txBox="1"/>
          <p:nvPr/>
        </p:nvSpPr>
        <p:spPr>
          <a:xfrm>
            <a:off x="24766138" y="7695965"/>
            <a:ext cx="1370888" cy="553998"/>
          </a:xfrm>
          <a:prstGeom prst="rect">
            <a:avLst/>
          </a:prstGeom>
          <a:noFill/>
          <a:ln w="38100">
            <a:solidFill>
              <a:schemeClr val="accent2"/>
            </a:solidFill>
          </a:ln>
        </p:spPr>
        <p:txBody>
          <a:bodyPr wrap="none" rtlCol="0">
            <a:spAutoFit/>
          </a:bodyPr>
          <a:lstStyle/>
          <a:p>
            <a:r>
              <a:rPr lang="en-GB" sz="3000" i="1" dirty="0" err="1">
                <a:solidFill>
                  <a:schemeClr val="accent2"/>
                </a:solidFill>
              </a:rPr>
              <a:t>ariadne</a:t>
            </a:r>
            <a:endParaRPr lang="en-GB" sz="3000" i="1" dirty="0">
              <a:solidFill>
                <a:schemeClr val="accent2"/>
              </a:solidFill>
            </a:endParaRPr>
          </a:p>
        </p:txBody>
      </p:sp>
      <p:cxnSp>
        <p:nvCxnSpPr>
          <p:cNvPr id="35" name="Curved Connector 34">
            <a:extLst>
              <a:ext uri="{FF2B5EF4-FFF2-40B4-BE49-F238E27FC236}">
                <a16:creationId xmlns:a16="http://schemas.microsoft.com/office/drawing/2014/main" id="{6F205E70-2EBB-59DC-BFE6-0DE90E0140B0}"/>
              </a:ext>
            </a:extLst>
          </p:cNvPr>
          <p:cNvCxnSpPr>
            <a:stCxn id="18" idx="0"/>
            <a:endCxn id="9" idx="1"/>
          </p:cNvCxnSpPr>
          <p:nvPr/>
        </p:nvCxnSpPr>
        <p:spPr>
          <a:xfrm rot="5400000" flipH="1" flipV="1">
            <a:off x="25159497" y="9326182"/>
            <a:ext cx="1496439" cy="912269"/>
          </a:xfrm>
          <a:prstGeom prst="curvedConnector2">
            <a:avLst/>
          </a:prstGeom>
          <a:ln w="254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39" name="Curved Connector 38">
            <a:extLst>
              <a:ext uri="{FF2B5EF4-FFF2-40B4-BE49-F238E27FC236}">
                <a16:creationId xmlns:a16="http://schemas.microsoft.com/office/drawing/2014/main" id="{725B8E83-37C4-DA3A-A134-242E3A540DB0}"/>
              </a:ext>
            </a:extLst>
          </p:cNvPr>
          <p:cNvCxnSpPr>
            <a:stCxn id="18" idx="0"/>
            <a:endCxn id="6" idx="3"/>
          </p:cNvCxnSpPr>
          <p:nvPr/>
        </p:nvCxnSpPr>
        <p:spPr>
          <a:xfrm rot="16200000" flipV="1">
            <a:off x="24247229" y="9326182"/>
            <a:ext cx="1496439" cy="912268"/>
          </a:xfrm>
          <a:prstGeom prst="curvedConnector2">
            <a:avLst/>
          </a:prstGeom>
          <a:ln w="254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41" name="Curved Connector 40">
            <a:extLst>
              <a:ext uri="{FF2B5EF4-FFF2-40B4-BE49-F238E27FC236}">
                <a16:creationId xmlns:a16="http://schemas.microsoft.com/office/drawing/2014/main" id="{F4758496-5D5E-3E6F-DD47-39F40919483A}"/>
              </a:ext>
            </a:extLst>
          </p:cNvPr>
          <p:cNvCxnSpPr>
            <a:stCxn id="18" idx="0"/>
            <a:endCxn id="27" idx="2"/>
          </p:cNvCxnSpPr>
          <p:nvPr/>
        </p:nvCxnSpPr>
        <p:spPr>
          <a:xfrm rot="5400000" flipH="1" flipV="1">
            <a:off x="24311296" y="9390249"/>
            <a:ext cx="2280572" cy="12700"/>
          </a:xfrm>
          <a:prstGeom prst="curvedConnector3">
            <a:avLst/>
          </a:prstGeom>
          <a:ln w="254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46" name="Rectangle 45">
            <a:extLst>
              <a:ext uri="{FF2B5EF4-FFF2-40B4-BE49-F238E27FC236}">
                <a16:creationId xmlns:a16="http://schemas.microsoft.com/office/drawing/2014/main" id="{09143EFF-0945-546C-B74D-055772C17EF6}"/>
              </a:ext>
            </a:extLst>
          </p:cNvPr>
          <p:cNvSpPr/>
          <p:nvPr/>
        </p:nvSpPr>
        <p:spPr>
          <a:xfrm>
            <a:off x="1626253" y="16526116"/>
            <a:ext cx="12980613" cy="11075465"/>
          </a:xfrm>
          <a:prstGeom prst="rect">
            <a:avLst/>
          </a:prstGeom>
          <a:noFill/>
          <a:ln w="57150">
            <a:solidFill>
              <a:schemeClr val="accent2"/>
            </a:solidFill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0234043F-A3DF-DE96-F24A-956E17CF6D8B}"/>
              </a:ext>
            </a:extLst>
          </p:cNvPr>
          <p:cNvSpPr/>
          <p:nvPr/>
        </p:nvSpPr>
        <p:spPr>
          <a:xfrm>
            <a:off x="15725115" y="28718698"/>
            <a:ext cx="12922103" cy="11348402"/>
          </a:xfrm>
          <a:prstGeom prst="rect">
            <a:avLst/>
          </a:prstGeom>
          <a:noFill/>
          <a:ln w="57150">
            <a:solidFill>
              <a:schemeClr val="accent2"/>
            </a:solidFill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09E3CB00-9B0E-66DE-119F-16E9ED84A134}"/>
              </a:ext>
            </a:extLst>
          </p:cNvPr>
          <p:cNvSpPr/>
          <p:nvPr/>
        </p:nvSpPr>
        <p:spPr>
          <a:xfrm>
            <a:off x="1565998" y="28725156"/>
            <a:ext cx="13040868" cy="11324014"/>
          </a:xfrm>
          <a:prstGeom prst="rect">
            <a:avLst/>
          </a:prstGeom>
          <a:noFill/>
          <a:ln w="57150">
            <a:solidFill>
              <a:schemeClr val="accent2"/>
            </a:solidFill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0E11A5B3-4DF0-1EA6-7577-D09CF7C7F247}"/>
              </a:ext>
            </a:extLst>
          </p:cNvPr>
          <p:cNvSpPr/>
          <p:nvPr/>
        </p:nvSpPr>
        <p:spPr>
          <a:xfrm>
            <a:off x="15725115" y="16521640"/>
            <a:ext cx="12923845" cy="11079941"/>
          </a:xfrm>
          <a:prstGeom prst="rect">
            <a:avLst/>
          </a:prstGeom>
          <a:noFill/>
          <a:ln w="57150">
            <a:solidFill>
              <a:schemeClr val="accent2"/>
            </a:solidFill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1031" name="Elbow Connector 1030">
            <a:extLst>
              <a:ext uri="{FF2B5EF4-FFF2-40B4-BE49-F238E27FC236}">
                <a16:creationId xmlns:a16="http://schemas.microsoft.com/office/drawing/2014/main" id="{F54FBE3C-DE4D-F337-B947-97A851F90461}"/>
              </a:ext>
            </a:extLst>
          </p:cNvPr>
          <p:cNvCxnSpPr>
            <a:cxnSpLocks/>
            <a:stCxn id="51" idx="2"/>
            <a:endCxn id="49" idx="0"/>
          </p:cNvCxnSpPr>
          <p:nvPr/>
        </p:nvCxnSpPr>
        <p:spPr>
          <a:xfrm rot="5400000">
            <a:off x="14574948" y="21113065"/>
            <a:ext cx="1123575" cy="14100606"/>
          </a:xfrm>
          <a:prstGeom prst="bentConnector3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3" name="Straight Arrow Connector 1032">
            <a:extLst>
              <a:ext uri="{FF2B5EF4-FFF2-40B4-BE49-F238E27FC236}">
                <a16:creationId xmlns:a16="http://schemas.microsoft.com/office/drawing/2014/main" id="{09A3F0FB-7843-FD9F-E352-C7658404B8CB}"/>
              </a:ext>
            </a:extLst>
          </p:cNvPr>
          <p:cNvCxnSpPr>
            <a:cxnSpLocks/>
            <a:stCxn id="46" idx="3"/>
            <a:endCxn id="51" idx="1"/>
          </p:cNvCxnSpPr>
          <p:nvPr/>
        </p:nvCxnSpPr>
        <p:spPr>
          <a:xfrm flipV="1">
            <a:off x="14606866" y="22061611"/>
            <a:ext cx="1118249" cy="2238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5" name="Straight Arrow Connector 1034">
            <a:extLst>
              <a:ext uri="{FF2B5EF4-FFF2-40B4-BE49-F238E27FC236}">
                <a16:creationId xmlns:a16="http://schemas.microsoft.com/office/drawing/2014/main" id="{B163D413-9E8F-2B53-0BD2-1CF3FC21A2EC}"/>
              </a:ext>
            </a:extLst>
          </p:cNvPr>
          <p:cNvCxnSpPr>
            <a:cxnSpLocks/>
            <a:stCxn id="49" idx="3"/>
            <a:endCxn id="47" idx="1"/>
          </p:cNvCxnSpPr>
          <p:nvPr/>
        </p:nvCxnSpPr>
        <p:spPr>
          <a:xfrm>
            <a:off x="14606866" y="34387163"/>
            <a:ext cx="1118249" cy="5736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1039" name="Table 1038">
            <a:extLst>
              <a:ext uri="{FF2B5EF4-FFF2-40B4-BE49-F238E27FC236}">
                <a16:creationId xmlns:a16="http://schemas.microsoft.com/office/drawing/2014/main" id="{4E516068-678B-D47B-7778-B9B4DDB9CF6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41875025"/>
              </p:ext>
            </p:extLst>
          </p:nvPr>
        </p:nvGraphicFramePr>
        <p:xfrm>
          <a:off x="17004159" y="11720448"/>
          <a:ext cx="10364013" cy="380971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994726">
                  <a:extLst>
                    <a:ext uri="{9D8B030D-6E8A-4147-A177-3AD203B41FA5}">
                      <a16:colId xmlns:a16="http://schemas.microsoft.com/office/drawing/2014/main" val="4033535567"/>
                    </a:ext>
                  </a:extLst>
                </a:gridCol>
                <a:gridCol w="2199861">
                  <a:extLst>
                    <a:ext uri="{9D8B030D-6E8A-4147-A177-3AD203B41FA5}">
                      <a16:colId xmlns:a16="http://schemas.microsoft.com/office/drawing/2014/main" val="726789854"/>
                    </a:ext>
                  </a:extLst>
                </a:gridCol>
                <a:gridCol w="7169426">
                  <a:extLst>
                    <a:ext uri="{9D8B030D-6E8A-4147-A177-3AD203B41FA5}">
                      <a16:colId xmlns:a16="http://schemas.microsoft.com/office/drawing/2014/main" val="3677836620"/>
                    </a:ext>
                  </a:extLst>
                </a:gridCol>
              </a:tblGrid>
              <a:tr h="728225">
                <a:tc>
                  <a:txBody>
                    <a:bodyPr/>
                    <a:lstStyle/>
                    <a:p>
                      <a:endParaRPr lang="en-GB" sz="3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000" b="1" kern="1200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package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000" b="1" kern="1200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description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5772345"/>
                  </a:ext>
                </a:extLst>
              </a:tr>
              <a:tr h="616297">
                <a:tc>
                  <a:txBody>
                    <a:bodyPr/>
                    <a:lstStyle/>
                    <a:p>
                      <a:pPr algn="ctr"/>
                      <a:r>
                        <a:rPr lang="en-GB" sz="3000" dirty="0"/>
                        <a:t>🗃️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000" dirty="0" err="1"/>
                        <a:t>MultiFactor</a:t>
                      </a:r>
                      <a:endParaRPr lang="en-GB" sz="3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000" dirty="0"/>
                        <a:t>S7 classes for relational data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04566932"/>
                  </a:ext>
                </a:extLst>
              </a:tr>
              <a:tr h="616297">
                <a:tc>
                  <a:txBody>
                    <a:bodyPr/>
                    <a:lstStyle/>
                    <a:p>
                      <a:pPr algn="ctr"/>
                      <a:r>
                        <a:rPr lang="en-GB" sz="3000" dirty="0"/>
                        <a:t>🧶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000" dirty="0" err="1"/>
                        <a:t>ariadne</a:t>
                      </a:r>
                      <a:endParaRPr lang="en-GB" sz="3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000" dirty="0"/>
                        <a:t>Import and wrangle relational data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43389301"/>
                  </a:ext>
                </a:extLst>
              </a:tr>
              <a:tr h="616297">
                <a:tc>
                  <a:txBody>
                    <a:bodyPr/>
                    <a:lstStyle/>
                    <a:p>
                      <a:pPr algn="ctr"/>
                      <a:r>
                        <a:rPr lang="en-GB" sz="3000" dirty="0"/>
                        <a:t>🕷️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000" dirty="0" err="1"/>
                        <a:t>anansi</a:t>
                      </a:r>
                      <a:endParaRPr lang="en-GB" sz="3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000" dirty="0"/>
                        <a:t>Analysis of specific feature-pair interactions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16022832"/>
                  </a:ext>
                </a:extLst>
              </a:tr>
              <a:tr h="616297">
                <a:tc>
                  <a:txBody>
                    <a:bodyPr/>
                    <a:lstStyle/>
                    <a:p>
                      <a:pPr algn="ctr"/>
                      <a:r>
                        <a:rPr lang="en-GB" sz="3000" dirty="0"/>
                        <a:t>🦉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000" dirty="0" err="1"/>
                        <a:t>pallas</a:t>
                      </a:r>
                      <a:endParaRPr lang="en-GB" sz="3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000" dirty="0"/>
                        <a:t>Compose and send SPARQL queries from R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48447023"/>
                  </a:ext>
                </a:extLst>
              </a:tr>
              <a:tr h="616297">
                <a:tc>
                  <a:txBody>
                    <a:bodyPr/>
                    <a:lstStyle/>
                    <a:p>
                      <a:pPr algn="ctr"/>
                      <a:r>
                        <a:rPr lang="en-GB" sz="3000" dirty="0"/>
                        <a:t>⛵️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000" dirty="0"/>
                        <a:t>argonaut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000" dirty="0"/>
                        <a:t>Tools for stratified analysis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17916822"/>
                  </a:ext>
                </a:extLst>
              </a:tr>
            </a:tbl>
          </a:graphicData>
        </a:graphic>
      </p:graphicFrame>
      <p:pic>
        <p:nvPicPr>
          <p:cNvPr id="21" name="Picture 20">
            <a:extLst>
              <a:ext uri="{FF2B5EF4-FFF2-40B4-BE49-F238E27FC236}">
                <a16:creationId xmlns:a16="http://schemas.microsoft.com/office/drawing/2014/main" id="{9116BB23-0468-1E7F-B27F-99CFB81ABFC6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779468" y="4239758"/>
            <a:ext cx="5827398" cy="934163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5AB34D24-845A-10F8-00D6-F1A652CA4C69}"/>
              </a:ext>
            </a:extLst>
          </p:cNvPr>
          <p:cNvSpPr txBox="1"/>
          <p:nvPr/>
        </p:nvSpPr>
        <p:spPr>
          <a:xfrm>
            <a:off x="5521215" y="484476"/>
            <a:ext cx="19232783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7000" b="1" i="1" dirty="0" err="1">
                <a:solidFill>
                  <a:schemeClr val="accent2"/>
                </a:solidFill>
              </a:rPr>
              <a:t>ariadne</a:t>
            </a:r>
            <a:r>
              <a:rPr lang="en-GB" sz="7000" dirty="0"/>
              <a:t>: enriching your ‘omics analyses with</a:t>
            </a:r>
          </a:p>
          <a:p>
            <a:pPr algn="ctr"/>
            <a:r>
              <a:rPr lang="en-GB" sz="7000" dirty="0"/>
              <a:t>prior knowledge from public databases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758131E-0044-2AE2-CD44-146385318D90}"/>
              </a:ext>
            </a:extLst>
          </p:cNvPr>
          <p:cNvSpPr txBox="1"/>
          <p:nvPr/>
        </p:nvSpPr>
        <p:spPr>
          <a:xfrm>
            <a:off x="1565998" y="14279732"/>
            <a:ext cx="12980613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GB" sz="3000" dirty="0"/>
              <a:t>There are as many use cases for </a:t>
            </a:r>
            <a:r>
              <a:rPr lang="en-GB" sz="3000" i="1" dirty="0" err="1"/>
              <a:t>ariadne</a:t>
            </a:r>
            <a:r>
              <a:rPr lang="en-GB" sz="3000" dirty="0"/>
              <a:t> as there are bioinformaticians. But its most natural applications include a) annotating or stratifying features </a:t>
            </a:r>
            <a:r>
              <a:rPr lang="en-DE" sz="3000" dirty="0"/>
              <a:t>based on prior knowledge and b) grounding pathway or X-set enrichment analyses.</a:t>
            </a:r>
            <a:endParaRPr lang="en-GB" sz="3000" dirty="0"/>
          </a:p>
        </p:txBody>
      </p:sp>
      <p:pic>
        <p:nvPicPr>
          <p:cNvPr id="63" name="Graphic 62">
            <a:extLst>
              <a:ext uri="{FF2B5EF4-FFF2-40B4-BE49-F238E27FC236}">
                <a16:creationId xmlns:a16="http://schemas.microsoft.com/office/drawing/2014/main" id="{3FDCAF35-9F23-FF8E-EE80-F73CAB566EE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21102370" y="31625368"/>
            <a:ext cx="6058508" cy="5165193"/>
          </a:xfrm>
          <a:prstGeom prst="rect">
            <a:avLst/>
          </a:prstGeom>
        </p:spPr>
      </p:pic>
      <p:sp>
        <p:nvSpPr>
          <p:cNvPr id="1026" name="TextBox 1025">
            <a:extLst>
              <a:ext uri="{FF2B5EF4-FFF2-40B4-BE49-F238E27FC236}">
                <a16:creationId xmlns:a16="http://schemas.microsoft.com/office/drawing/2014/main" id="{9A62DEFF-ABD1-8CD3-6C16-E4627A235C0E}"/>
              </a:ext>
            </a:extLst>
          </p:cNvPr>
          <p:cNvSpPr txBox="1"/>
          <p:nvPr/>
        </p:nvSpPr>
        <p:spPr>
          <a:xfrm>
            <a:off x="16191864" y="36764139"/>
            <a:ext cx="3934923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000" dirty="0"/>
              <a:t>Analysis continues with:</a:t>
            </a:r>
          </a:p>
        </p:txBody>
      </p:sp>
      <p:sp>
        <p:nvSpPr>
          <p:cNvPr id="1027" name="TextBox 1026">
            <a:extLst>
              <a:ext uri="{FF2B5EF4-FFF2-40B4-BE49-F238E27FC236}">
                <a16:creationId xmlns:a16="http://schemas.microsoft.com/office/drawing/2014/main" id="{BBE852C0-5627-C097-FEF7-2C4245C56F5F}"/>
              </a:ext>
            </a:extLst>
          </p:cNvPr>
          <p:cNvSpPr txBox="1"/>
          <p:nvPr/>
        </p:nvSpPr>
        <p:spPr>
          <a:xfrm>
            <a:off x="2196648" y="34589849"/>
            <a:ext cx="3950120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000" dirty="0"/>
              <a:t>The output is a </a:t>
            </a:r>
            <a:r>
              <a:rPr lang="en-GB" sz="3000" dirty="0" err="1"/>
              <a:t>linkmap</a:t>
            </a:r>
            <a:r>
              <a:rPr lang="en-GB" sz="3000" dirty="0"/>
              <a:t>:</a:t>
            </a:r>
          </a:p>
        </p:txBody>
      </p:sp>
      <p:graphicFrame>
        <p:nvGraphicFramePr>
          <p:cNvPr id="1028" name="Table 1027">
            <a:extLst>
              <a:ext uri="{FF2B5EF4-FFF2-40B4-BE49-F238E27FC236}">
                <a16:creationId xmlns:a16="http://schemas.microsoft.com/office/drawing/2014/main" id="{1C763FE7-A6E1-FD25-4099-F6D9C939EFE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49377103"/>
              </p:ext>
            </p:extLst>
          </p:nvPr>
        </p:nvGraphicFramePr>
        <p:xfrm>
          <a:off x="17187750" y="33125027"/>
          <a:ext cx="2112440" cy="2524272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056220">
                  <a:extLst>
                    <a:ext uri="{9D8B030D-6E8A-4147-A177-3AD203B41FA5}">
                      <a16:colId xmlns:a16="http://schemas.microsoft.com/office/drawing/2014/main" val="900627522"/>
                    </a:ext>
                  </a:extLst>
                </a:gridCol>
                <a:gridCol w="1056220">
                  <a:extLst>
                    <a:ext uri="{9D8B030D-6E8A-4147-A177-3AD203B41FA5}">
                      <a16:colId xmlns:a16="http://schemas.microsoft.com/office/drawing/2014/main" val="2736560378"/>
                    </a:ext>
                  </a:extLst>
                </a:gridCol>
              </a:tblGrid>
              <a:tr h="300408">
                <a:tc>
                  <a:txBody>
                    <a:bodyPr/>
                    <a:lstStyle/>
                    <a:p>
                      <a:pPr algn="ctr"/>
                      <a:r>
                        <a:rPr lang="en-GB" sz="1500" dirty="0" err="1"/>
                        <a:t>taxid</a:t>
                      </a:r>
                      <a:endParaRPr lang="en-GB" sz="15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500" dirty="0" err="1"/>
                        <a:t>kegg_path</a:t>
                      </a:r>
                      <a:endParaRPr lang="en-GB" sz="15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29619783"/>
                  </a:ext>
                </a:extLst>
              </a:tr>
              <a:tr h="367372">
                <a:tc>
                  <a:txBody>
                    <a:bodyPr/>
                    <a:lstStyle/>
                    <a:p>
                      <a:r>
                        <a:rPr lang="en-DE" sz="15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216816</a:t>
                      </a:r>
                      <a:endParaRPr lang="en-GB" sz="15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DE" sz="15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map05205</a:t>
                      </a:r>
                      <a:endParaRPr lang="en-GB" sz="15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46177257"/>
                  </a:ext>
                </a:extLst>
              </a:tr>
              <a:tr h="367372">
                <a:tc>
                  <a:txBody>
                    <a:bodyPr/>
                    <a:lstStyle/>
                    <a:p>
                      <a:r>
                        <a:rPr lang="en-DE" sz="15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216816</a:t>
                      </a:r>
                      <a:endParaRPr lang="en-GB" sz="15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DE" sz="15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map05418</a:t>
                      </a:r>
                      <a:endParaRPr lang="en-GB" sz="15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46757863"/>
                  </a:ext>
                </a:extLst>
              </a:tr>
              <a:tr h="367372">
                <a:tc>
                  <a:txBody>
                    <a:bodyPr/>
                    <a:lstStyle/>
                    <a:p>
                      <a:r>
                        <a:rPr lang="en-DE" sz="15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216816</a:t>
                      </a:r>
                      <a:endParaRPr lang="en-GB" sz="15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DE" sz="15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map00030</a:t>
                      </a:r>
                      <a:endParaRPr lang="en-GB" sz="15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55025958"/>
                  </a:ext>
                </a:extLst>
              </a:tr>
              <a:tr h="367372">
                <a:tc>
                  <a:txBody>
                    <a:bodyPr/>
                    <a:lstStyle/>
                    <a:p>
                      <a:r>
                        <a:rPr lang="en-DE" sz="15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47715</a:t>
                      </a:r>
                      <a:endParaRPr lang="en-GB" sz="15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DE" sz="15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map00051</a:t>
                      </a:r>
                      <a:endParaRPr lang="en-GB" sz="15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78281483"/>
                  </a:ext>
                </a:extLst>
              </a:tr>
              <a:tr h="367372">
                <a:tc>
                  <a:txBody>
                    <a:bodyPr/>
                    <a:lstStyle/>
                    <a:p>
                      <a:r>
                        <a:rPr lang="en-DE" sz="15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47715</a:t>
                      </a:r>
                      <a:endParaRPr lang="en-GB" sz="15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DE" sz="15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map00052</a:t>
                      </a:r>
                      <a:endParaRPr lang="en-GB" sz="15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36973921"/>
                  </a:ext>
                </a:extLst>
              </a:tr>
              <a:tr h="367372">
                <a:tc>
                  <a:txBody>
                    <a:bodyPr/>
                    <a:lstStyle/>
                    <a:p>
                      <a:r>
                        <a:rPr lang="en-DE" sz="15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47715</a:t>
                      </a:r>
                      <a:endParaRPr lang="en-GB" sz="15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DE" sz="15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map00061</a:t>
                      </a:r>
                      <a:endParaRPr lang="en-GB" sz="15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31149489"/>
                  </a:ext>
                </a:extLst>
              </a:tr>
            </a:tbl>
          </a:graphicData>
        </a:graphic>
      </p:graphicFrame>
      <p:sp>
        <p:nvSpPr>
          <p:cNvPr id="1030" name="TextBox 1029">
            <a:extLst>
              <a:ext uri="{FF2B5EF4-FFF2-40B4-BE49-F238E27FC236}">
                <a16:creationId xmlns:a16="http://schemas.microsoft.com/office/drawing/2014/main" id="{32D73CEA-E6F2-8056-7921-28957FBF443A}"/>
              </a:ext>
            </a:extLst>
          </p:cNvPr>
          <p:cNvSpPr txBox="1"/>
          <p:nvPr/>
        </p:nvSpPr>
        <p:spPr>
          <a:xfrm>
            <a:off x="19949448" y="33965241"/>
            <a:ext cx="503664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0" dirty="0"/>
              <a:t>+</a:t>
            </a:r>
          </a:p>
        </p:txBody>
      </p:sp>
      <p:pic>
        <p:nvPicPr>
          <p:cNvPr id="23" name="Graphic 22">
            <a:extLst>
              <a:ext uri="{FF2B5EF4-FFF2-40B4-BE49-F238E27FC236}">
                <a16:creationId xmlns:a16="http://schemas.microsoft.com/office/drawing/2014/main" id="{38A3CFA0-79C7-4509-1533-596050262EB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26048951" y="481576"/>
            <a:ext cx="3567019" cy="4160013"/>
          </a:xfrm>
          <a:prstGeom prst="rect">
            <a:avLst/>
          </a:prstGeom>
        </p:spPr>
      </p:pic>
      <p:pic>
        <p:nvPicPr>
          <p:cNvPr id="34" name="Picture 33">
            <a:extLst>
              <a:ext uri="{FF2B5EF4-FFF2-40B4-BE49-F238E27FC236}">
                <a16:creationId xmlns:a16="http://schemas.microsoft.com/office/drawing/2014/main" id="{C0CA194E-2C76-E575-4AFB-AF58A583E11A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7910702" y="24265087"/>
            <a:ext cx="1672122" cy="1672122"/>
          </a:xfrm>
          <a:prstGeom prst="rect">
            <a:avLst/>
          </a:prstGeom>
        </p:spPr>
      </p:pic>
      <p:pic>
        <p:nvPicPr>
          <p:cNvPr id="38" name="Picture 37">
            <a:extLst>
              <a:ext uri="{FF2B5EF4-FFF2-40B4-BE49-F238E27FC236}">
                <a16:creationId xmlns:a16="http://schemas.microsoft.com/office/drawing/2014/main" id="{06FBD53C-21FB-222C-0840-970172E9471C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23446567" y="24831519"/>
            <a:ext cx="1672337" cy="1672337"/>
          </a:xfrm>
          <a:prstGeom prst="rect">
            <a:avLst/>
          </a:prstGeom>
        </p:spPr>
      </p:pic>
      <p:pic>
        <p:nvPicPr>
          <p:cNvPr id="42" name="Picture 41">
            <a:extLst>
              <a:ext uri="{FF2B5EF4-FFF2-40B4-BE49-F238E27FC236}">
                <a16:creationId xmlns:a16="http://schemas.microsoft.com/office/drawing/2014/main" id="{B7C609D9-755B-04D4-0141-7B7525D7AC11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25071434" y="21134474"/>
            <a:ext cx="2048000" cy="1469936"/>
          </a:xfrm>
          <a:prstGeom prst="rect">
            <a:avLst/>
          </a:prstGeom>
        </p:spPr>
      </p:pic>
      <p:cxnSp>
        <p:nvCxnSpPr>
          <p:cNvPr id="53" name="Curved Connector 52">
            <a:extLst>
              <a:ext uri="{FF2B5EF4-FFF2-40B4-BE49-F238E27FC236}">
                <a16:creationId xmlns:a16="http://schemas.microsoft.com/office/drawing/2014/main" id="{6BB16274-AC05-7CBD-12BB-C4AE75FA4957}"/>
              </a:ext>
            </a:extLst>
          </p:cNvPr>
          <p:cNvCxnSpPr>
            <a:cxnSpLocks/>
            <a:stCxn id="34" idx="3"/>
          </p:cNvCxnSpPr>
          <p:nvPr/>
        </p:nvCxnSpPr>
        <p:spPr>
          <a:xfrm flipV="1">
            <a:off x="19582824" y="23414947"/>
            <a:ext cx="569762" cy="1686201"/>
          </a:xfrm>
          <a:prstGeom prst="curvedConnector2">
            <a:avLst/>
          </a:prstGeom>
          <a:ln w="254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029" name="Curved Connector 1028">
            <a:extLst>
              <a:ext uri="{FF2B5EF4-FFF2-40B4-BE49-F238E27FC236}">
                <a16:creationId xmlns:a16="http://schemas.microsoft.com/office/drawing/2014/main" id="{12A368A6-F050-F469-0083-C2B816BB78BB}"/>
              </a:ext>
            </a:extLst>
          </p:cNvPr>
          <p:cNvCxnSpPr>
            <a:cxnSpLocks/>
            <a:stCxn id="38" idx="1"/>
          </p:cNvCxnSpPr>
          <p:nvPr/>
        </p:nvCxnSpPr>
        <p:spPr>
          <a:xfrm rot="10800000">
            <a:off x="22650791" y="23461430"/>
            <a:ext cx="795777" cy="2206259"/>
          </a:xfrm>
          <a:prstGeom prst="curvedConnector2">
            <a:avLst/>
          </a:prstGeom>
          <a:ln w="254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037" name="Curved Connector 1036">
            <a:extLst>
              <a:ext uri="{FF2B5EF4-FFF2-40B4-BE49-F238E27FC236}">
                <a16:creationId xmlns:a16="http://schemas.microsoft.com/office/drawing/2014/main" id="{6E260149-04D4-684B-8309-E9F826C91772}"/>
              </a:ext>
            </a:extLst>
          </p:cNvPr>
          <p:cNvCxnSpPr>
            <a:cxnSpLocks/>
            <a:stCxn id="42" idx="1"/>
          </p:cNvCxnSpPr>
          <p:nvPr/>
        </p:nvCxnSpPr>
        <p:spPr>
          <a:xfrm rot="10800000" flipV="1">
            <a:off x="24539314" y="21869441"/>
            <a:ext cx="532121" cy="1248823"/>
          </a:xfrm>
          <a:prstGeom prst="curvedConnector2">
            <a:avLst/>
          </a:prstGeom>
          <a:ln w="254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8435412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1909</TotalTime>
  <Words>602</Words>
  <Application>Microsoft Macintosh PowerPoint</Application>
  <PresentationFormat>Custom</PresentationFormat>
  <Paragraphs>104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7" baseType="lpstr">
      <vt:lpstr>Atkinson Hyperlegible</vt:lpstr>
      <vt:lpstr>Arial</vt:lpstr>
      <vt:lpstr>Calibri</vt:lpstr>
      <vt:lpstr>Calibri Light</vt:lpstr>
      <vt:lpstr>Courier New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Giulio Benedetti</dc:creator>
  <cp:lastModifiedBy>Giulio Benedetti</cp:lastModifiedBy>
  <cp:revision>169</cp:revision>
  <dcterms:created xsi:type="dcterms:W3CDTF">2024-09-03T19:06:17Z</dcterms:created>
  <dcterms:modified xsi:type="dcterms:W3CDTF">2026-05-25T08:16:46Z</dcterms:modified>
</cp:coreProperties>
</file>