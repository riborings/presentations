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319" r:id="rId5"/>
    <p:sldId id="334" r:id="rId6"/>
    <p:sldId id="333" r:id="rId7"/>
    <p:sldId id="335" r:id="rId8"/>
    <p:sldId id="336" r:id="rId9"/>
    <p:sldId id="337" r:id="rId10"/>
    <p:sldId id="329" r:id="rId11"/>
    <p:sldId id="330" r:id="rId12"/>
    <p:sldId id="331" r:id="rId13"/>
    <p:sldId id="328" r:id="rId14"/>
    <p:sldId id="332" r:id="rId15"/>
    <p:sldId id="325" r:id="rId16"/>
    <p:sldId id="327" r:id="rId17"/>
    <p:sldId id="324" r:id="rId18"/>
    <p:sldId id="312" r:id="rId19"/>
    <p:sldId id="299" r:id="rId20"/>
    <p:sldId id="317" r:id="rId21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9452" autoAdjust="0"/>
  </p:normalViewPr>
  <p:slideViewPr>
    <p:cSldViewPr snapToGrid="0" showGuides="1">
      <p:cViewPr varScale="1">
        <p:scale>
          <a:sx n="113" d="100"/>
          <a:sy n="113" d="100"/>
        </p:scale>
        <p:origin x="172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1-19T10:24:02.363"/>
    </inkml:context>
    <inkml:brush xml:id="br0">
      <inkml:brushProperty name="height" value="0.053" units="cm"/>
    </inkml:brush>
  </inkml:definitions>
  <inkml:trace contextRef="#ctx0" brushRef="#br0">1 1 4162 0 0,'0'0'1152'0'0,"0"0"-447"0"0,0 0 47 0 0,0 0-80 0 0,0 0-463 0 0,0 0-209 0 0,31 0 0 0 0,-31 0 0 0 0,0 0-257 0 0,0 0-1023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1-19T10:24:05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2289 0 0,'0'0'176'0'0,"0"0"-160"0"0,0 0 48 0 0,0 0-240 0 0,0 0-2017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57260-96AC-4331-A420-F0B128CC463E}" type="datetimeFigureOut">
              <a:rPr lang="fi-FI" smtClean="0"/>
              <a:t>3.6.2026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A30BA-0CC1-40AB-AE80-2F533EB1574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10184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30BA-0CC1-40AB-AE80-2F533EB15740}" type="slidenum">
              <a:rPr lang="fi-FI" smtClean="0"/>
              <a:t>12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02556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in paikkamerkki 12">
            <a:extLst>
              <a:ext uri="{FF2B5EF4-FFF2-40B4-BE49-F238E27FC236}">
                <a16:creationId xmlns:a16="http://schemas.microsoft.com/office/drawing/2014/main" id="{B08D2941-A7E5-4C26-B320-579010B602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018" y="4745772"/>
            <a:ext cx="7480852" cy="32803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i-FI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560" y="5191347"/>
            <a:ext cx="3190045" cy="118663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804753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0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8" y="3973860"/>
            <a:ext cx="7478692" cy="674339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11" name="Otsikko 1">
            <a:extLst>
              <a:ext uri="{FF2B5EF4-FFF2-40B4-BE49-F238E27FC236}">
                <a16:creationId xmlns:a16="http://schemas.microsoft.com/office/drawing/2014/main" id="{CA4F6AB8-5B3A-4D26-91F4-2F9CDEAF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018" y="910802"/>
            <a:ext cx="10440000" cy="2751522"/>
          </a:xfrm>
        </p:spPr>
        <p:txBody>
          <a:bodyPr anchor="b">
            <a:normAutofit/>
          </a:bodyPr>
          <a:lstStyle>
            <a:lvl1pPr algn="l">
              <a:defRPr sz="9600" b="1"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00148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must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kstin paikkamerkki 12">
            <a:extLst>
              <a:ext uri="{FF2B5EF4-FFF2-40B4-BE49-F238E27FC236}">
                <a16:creationId xmlns:a16="http://schemas.microsoft.com/office/drawing/2014/main" id="{889DA205-0B6C-45D6-91B2-25C1E2981B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018" y="4745772"/>
            <a:ext cx="7478692" cy="32767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endParaRPr lang="fi-FI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Käsinkirjoitus 13">
                <a:extLst>
                  <a:ext uri="{FF2B5EF4-FFF2-40B4-BE49-F238E27FC236}">
                    <a16:creationId xmlns:a16="http://schemas.microsoft.com/office/drawing/2014/main" id="{CEC5EDC0-A0E0-4F47-928F-B20B8076E634}"/>
                  </a:ext>
                </a:extLst>
              </p14:cNvPr>
              <p14:cNvContentPartPr/>
              <p14:nvPr userDrawn="1"/>
            </p14:nvContentPartPr>
            <p14:xfrm>
              <a:off x="2731856" y="4694400"/>
              <a:ext cx="11520" cy="360"/>
            </p14:xfrm>
          </p:contentPart>
        </mc:Choice>
        <mc:Fallback xmlns="">
          <p:pic>
            <p:nvPicPr>
              <p:cNvPr id="14" name="Käsinkirjoitus 13">
                <a:extLst>
                  <a:ext uri="{FF2B5EF4-FFF2-40B4-BE49-F238E27FC236}">
                    <a16:creationId xmlns:a16="http://schemas.microsoft.com/office/drawing/2014/main" id="{CEC5EDC0-A0E0-4F47-928F-B20B8076E6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22496" y="4685040"/>
                <a:ext cx="30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Käsinkirjoitus 14">
                <a:extLst>
                  <a:ext uri="{FF2B5EF4-FFF2-40B4-BE49-F238E27FC236}">
                    <a16:creationId xmlns:a16="http://schemas.microsoft.com/office/drawing/2014/main" id="{469EDAD8-DE64-4AA1-99EB-7E6A49453D5D}"/>
                  </a:ext>
                </a:extLst>
              </p14:cNvPr>
              <p14:cNvContentPartPr/>
              <p14:nvPr userDrawn="1"/>
            </p14:nvContentPartPr>
            <p14:xfrm>
              <a:off x="2642576" y="4739040"/>
              <a:ext cx="360" cy="360"/>
            </p14:xfrm>
          </p:contentPart>
        </mc:Choice>
        <mc:Fallback xmlns="">
          <p:pic>
            <p:nvPicPr>
              <p:cNvPr id="15" name="Käsinkirjoitus 14">
                <a:extLst>
                  <a:ext uri="{FF2B5EF4-FFF2-40B4-BE49-F238E27FC236}">
                    <a16:creationId xmlns:a16="http://schemas.microsoft.com/office/drawing/2014/main" id="{469EDAD8-DE64-4AA1-99EB-7E6A49453D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3936" y="473040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366" y="5193622"/>
            <a:ext cx="3192434" cy="1182085"/>
          </a:xfrm>
          <a:prstGeom prst="rect">
            <a:avLst/>
          </a:prstGeom>
        </p:spPr>
      </p:pic>
      <p:sp>
        <p:nvSpPr>
          <p:cNvPr id="17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804753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20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8" y="3973860"/>
            <a:ext cx="7478692" cy="674339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11" name="Otsikko 1">
            <a:extLst>
              <a:ext uri="{FF2B5EF4-FFF2-40B4-BE49-F238E27FC236}">
                <a16:creationId xmlns:a16="http://schemas.microsoft.com/office/drawing/2014/main" id="{CA4F6AB8-5B3A-4D26-91F4-2F9CDEAF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018" y="910802"/>
            <a:ext cx="10440000" cy="2751522"/>
          </a:xfrm>
        </p:spPr>
        <p:txBody>
          <a:bodyPr anchor="b">
            <a:normAutofit/>
          </a:bodyPr>
          <a:lstStyle>
            <a:lvl1pPr algn="l">
              <a:defRPr sz="9600" b="1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13443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8" y="3973860"/>
            <a:ext cx="7478692" cy="674339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13" name="Tekstin paikkamerkki 12">
            <a:extLst>
              <a:ext uri="{FF2B5EF4-FFF2-40B4-BE49-F238E27FC236}">
                <a16:creationId xmlns:a16="http://schemas.microsoft.com/office/drawing/2014/main" id="{889DA205-0B6C-45D6-91B2-25C1E2981B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018" y="4745772"/>
            <a:ext cx="7478692" cy="32767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endParaRPr lang="fi-FI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804753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366" y="5193622"/>
            <a:ext cx="3192434" cy="1182085"/>
          </a:xfrm>
          <a:prstGeom prst="rect">
            <a:avLst/>
          </a:prstGeom>
        </p:spPr>
      </p:pic>
      <p:sp>
        <p:nvSpPr>
          <p:cNvPr id="11" name="Otsikko 1">
            <a:extLst>
              <a:ext uri="{FF2B5EF4-FFF2-40B4-BE49-F238E27FC236}">
                <a16:creationId xmlns:a16="http://schemas.microsoft.com/office/drawing/2014/main" id="{CA4F6AB8-5B3A-4D26-91F4-2F9CDEAF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018" y="910802"/>
            <a:ext cx="10440000" cy="2751522"/>
          </a:xfrm>
        </p:spPr>
        <p:txBody>
          <a:bodyPr anchor="b">
            <a:normAutofit/>
          </a:bodyPr>
          <a:lstStyle>
            <a:lvl1pPr algn="l">
              <a:defRPr sz="9600" b="1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3000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sisältö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8" y="1825625"/>
            <a:ext cx="10145029" cy="4069849"/>
          </a:xfrm>
        </p:spPr>
        <p:txBody>
          <a:bodyPr>
            <a:noAutofit/>
          </a:bodyPr>
          <a:lstStyle/>
          <a:p>
            <a:pPr lvl="0"/>
            <a:r>
              <a:rPr lang="fi-FI"/>
              <a:t>Muokkaa tekstin perustyylejä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4002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sikko ja sisältö mus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0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8" y="1825625"/>
            <a:ext cx="10145029" cy="4069849"/>
          </a:xfrm>
        </p:spPr>
        <p:txBody>
          <a:bodyPr>
            <a:noAutofit/>
          </a:bodyPr>
          <a:lstStyle/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512046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kaksi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6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8" y="1825625"/>
            <a:ext cx="4932000" cy="4069849"/>
          </a:xfrm>
        </p:spPr>
        <p:txBody>
          <a:bodyPr>
            <a:noAutofit/>
          </a:bodyPr>
          <a:lstStyle/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17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91057" y="1825625"/>
            <a:ext cx="4932000" cy="4069849"/>
          </a:xfrm>
        </p:spPr>
        <p:txBody>
          <a:bodyPr>
            <a:noAutofit/>
          </a:bodyPr>
          <a:lstStyle/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20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fi-FI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5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3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207030" cy="365125"/>
          </a:xfrm>
        </p:spPr>
        <p:txBody>
          <a:bodyPr/>
          <a:lstStyle>
            <a:lvl1pPr>
              <a:defRPr sz="1050"/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ingres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1800999-EDA5-4B6B-8344-7EB1B35B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0" y="1673225"/>
            <a:ext cx="4780800" cy="3511550"/>
          </a:xfrm>
        </p:spPr>
        <p:txBody>
          <a:bodyPr>
            <a:normAutofit/>
          </a:bodyPr>
          <a:lstStyle>
            <a:lvl1pPr>
              <a:defRPr sz="5000" b="1"/>
            </a:lvl1pPr>
          </a:lstStyle>
          <a:p>
            <a:endParaRPr lang="fi-FI" dirty="0"/>
          </a:p>
        </p:txBody>
      </p:sp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272000" y="1227388"/>
            <a:ext cx="4534256" cy="44032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endParaRPr lang="fi-FI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464" y="2075205"/>
            <a:ext cx="1757071" cy="2707589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/>
            </a:lvl1pPr>
          </a:lstStyle>
          <a:p>
            <a:endParaRPr lang="fi-FI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207030" cy="365125"/>
          </a:xfrm>
        </p:spPr>
        <p:txBody>
          <a:bodyPr/>
          <a:lstStyle>
            <a:lvl1pPr>
              <a:defRPr sz="1050"/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3.6.2026</a:t>
            </a:fld>
            <a:endParaRPr lang="fi-FI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7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fi-FI" dirty="0"/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bg2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bg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39228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mus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139709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vihreä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696780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936840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accent2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226431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turkoo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fi-FI" dirty="0"/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accent2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597185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punain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fi-FI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accent4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69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 - mus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798" y="404038"/>
            <a:ext cx="5017972" cy="1229958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7796" y="1864243"/>
            <a:ext cx="5017971" cy="42175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5024861" y="3215374"/>
            <a:ext cx="427255" cy="427255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95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 - valkoi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798" y="404038"/>
            <a:ext cx="5017972" cy="1229958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7796" y="1864243"/>
            <a:ext cx="5017971" cy="421758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5024861" y="3215374"/>
            <a:ext cx="427255" cy="427255"/>
          </a:xfr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14740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94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 -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i-FI" dirty="0"/>
              <a:t>Lisää kuva</a:t>
            </a: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798" y="404038"/>
            <a:ext cx="5017972" cy="1229958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7796" y="1864243"/>
            <a:ext cx="5017971" cy="42175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/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5024861" y="3215374"/>
            <a:ext cx="427255" cy="42725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699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punain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60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vihreä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  <p:sp>
        <p:nvSpPr>
          <p:cNvPr id="5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05609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  <p:sp>
        <p:nvSpPr>
          <p:cNvPr id="5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145474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turkoo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  <p:sp>
        <p:nvSpPr>
          <p:cNvPr id="5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710643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pp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109" y="2352016"/>
            <a:ext cx="5795784" cy="2153969"/>
          </a:xfrm>
          <a:prstGeom prst="rect">
            <a:avLst/>
          </a:prstGeom>
        </p:spPr>
      </p:pic>
      <p:sp>
        <p:nvSpPr>
          <p:cNvPr id="4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5574" y="4831894"/>
            <a:ext cx="7480852" cy="505672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5" name="Tekstin paikkamerkki 12">
            <a:extLst>
              <a:ext uri="{FF2B5EF4-FFF2-40B4-BE49-F238E27FC236}">
                <a16:creationId xmlns:a16="http://schemas.microsoft.com/office/drawing/2014/main" id="{889DA205-0B6C-45D6-91B2-25C1E2981B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56654" y="5491071"/>
            <a:ext cx="7478692" cy="32767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9391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440BC-9B28-4ACE-B7B8-D3C83187B980}" type="datetimeFigureOut">
              <a:rPr lang="fi-FI" smtClean="0"/>
              <a:t>3.6.2026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2F644-756C-4530-A69F-A71AB7A98F48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5667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79" r:id="rId7"/>
    <p:sldLayoutId id="2147483673" r:id="rId8"/>
    <p:sldLayoutId id="2147483666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74" r:id="rId19"/>
    <p:sldLayoutId id="2147483675" r:id="rId20"/>
    <p:sldLayoutId id="2147483676" r:id="rId21"/>
    <p:sldLayoutId id="2147483677" r:id="rId22"/>
    <p:sldLayoutId id="2147483678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7.jpg"/><Relationship Id="rId7" Type="http://schemas.openxmlformats.org/officeDocument/2006/relationships/image" Target="../media/image3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C20558B-FB93-FE25-EC99-B1811B066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7" y="3638140"/>
            <a:ext cx="9669963" cy="674339"/>
          </a:xfrm>
        </p:spPr>
        <p:txBody>
          <a:bodyPr>
            <a:normAutofit fontScale="92500"/>
          </a:bodyPr>
          <a:lstStyle/>
          <a:p>
            <a:r>
              <a:rPr lang="en-GB" sz="3000" dirty="0"/>
              <a:t>Navigating the maze of Biology (without getting lost)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B95D67-1A5F-C967-1488-44DB9FDA2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Ariadne’s thread</a:t>
            </a:r>
          </a:p>
        </p:txBody>
      </p:sp>
      <p:sp>
        <p:nvSpPr>
          <p:cNvPr id="5" name="Subtitle 5">
            <a:extLst>
              <a:ext uri="{FF2B5EF4-FFF2-40B4-BE49-F238E27FC236}">
                <a16:creationId xmlns:a16="http://schemas.microsoft.com/office/drawing/2014/main" id="{CE90CA3F-436F-66D0-21EB-2CFA46E8DF7D}"/>
              </a:ext>
            </a:extLst>
          </p:cNvPr>
          <p:cNvSpPr txBox="1">
            <a:spLocks/>
          </p:cNvSpPr>
          <p:nvPr/>
        </p:nvSpPr>
        <p:spPr>
          <a:xfrm>
            <a:off x="868018" y="4791723"/>
            <a:ext cx="7478692" cy="86695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2500" dirty="0"/>
              <a:t>Giulio </a:t>
            </a:r>
            <a:r>
              <a:rPr lang="fi-FI" sz="2500" dirty="0" err="1"/>
              <a:t>Benedetti</a:t>
            </a:r>
            <a:endParaRPr lang="fi-FI" sz="2500" dirty="0"/>
          </a:p>
          <a:p>
            <a:r>
              <a:rPr lang="fi-FI" sz="2500" dirty="0"/>
              <a:t>European </a:t>
            </a:r>
            <a:r>
              <a:rPr lang="fi-FI" sz="2500" dirty="0" err="1"/>
              <a:t>Bioconductor</a:t>
            </a:r>
            <a:r>
              <a:rPr lang="fi-FI" sz="2500" dirty="0"/>
              <a:t> Conference</a:t>
            </a:r>
          </a:p>
          <a:p>
            <a:r>
              <a:rPr lang="fi-FI" sz="2500" dirty="0"/>
              <a:t>Turku, </a:t>
            </a:r>
            <a:r>
              <a:rPr lang="fi-FI" sz="2500" dirty="0" err="1"/>
              <a:t>June</a:t>
            </a:r>
            <a:r>
              <a:rPr lang="fi-FI" sz="2500" dirty="0"/>
              <a:t> 4, 2026</a:t>
            </a:r>
          </a:p>
          <a:p>
            <a:endParaRPr lang="fi-FI" sz="2100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35030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9">
            <a:extLst>
              <a:ext uri="{FF2B5EF4-FFF2-40B4-BE49-F238E27FC236}">
                <a16:creationId xmlns:a16="http://schemas.microsoft.com/office/drawing/2014/main" id="{4B492514-134D-BAEF-6B7B-B00A8DA9A4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33" r="61007"/>
          <a:stretch>
            <a:fillRect/>
          </a:stretch>
        </p:blipFill>
        <p:spPr bwMode="auto">
          <a:xfrm>
            <a:off x="3049062" y="510165"/>
            <a:ext cx="1791500" cy="602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>
            <a:extLst>
              <a:ext uri="{FF2B5EF4-FFF2-40B4-BE49-F238E27FC236}">
                <a16:creationId xmlns:a16="http://schemas.microsoft.com/office/drawing/2014/main" id="{F766093B-F977-7E5C-0689-4C40F3055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33" r="4230"/>
          <a:stretch>
            <a:fillRect/>
          </a:stretch>
        </p:blipFill>
        <p:spPr bwMode="auto">
          <a:xfrm>
            <a:off x="3049061" y="510165"/>
            <a:ext cx="6221757" cy="602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4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9">
            <a:extLst>
              <a:ext uri="{FF2B5EF4-FFF2-40B4-BE49-F238E27FC236}">
                <a16:creationId xmlns:a16="http://schemas.microsoft.com/office/drawing/2014/main" id="{3523B0CD-05C2-7933-A821-12076CCE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42" r="3901"/>
          <a:stretch>
            <a:fillRect/>
          </a:stretch>
        </p:blipFill>
        <p:spPr bwMode="auto">
          <a:xfrm>
            <a:off x="3010694" y="510165"/>
            <a:ext cx="6285702" cy="602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4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CFE50-06BB-204E-FC8E-961EAA5E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group of books on a red circle&#10;&#10;Description automatically generated with low confidence">
            <a:extLst>
              <a:ext uri="{FF2B5EF4-FFF2-40B4-BE49-F238E27FC236}">
                <a16:creationId xmlns:a16="http://schemas.microsoft.com/office/drawing/2014/main" id="{7BE12CE7-C788-D441-D1F9-C647D429D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36" b="11042"/>
          <a:stretch>
            <a:fillRect/>
          </a:stretch>
        </p:blipFill>
        <p:spPr bwMode="auto">
          <a:xfrm>
            <a:off x="99593" y="266430"/>
            <a:ext cx="2295914" cy="2186376"/>
          </a:xfrm>
          <a:prstGeom prst="rect">
            <a:avLst/>
          </a:prstGeom>
        </p:spPr>
      </p:pic>
      <p:pic>
        <p:nvPicPr>
          <p:cNvPr id="5" name="Picture 19">
            <a:extLst>
              <a:ext uri="{FF2B5EF4-FFF2-40B4-BE49-F238E27FC236}">
                <a16:creationId xmlns:a16="http://schemas.microsoft.com/office/drawing/2014/main" id="{B6B79396-48F7-A558-B9FF-77C2BAA1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98676" y="510165"/>
            <a:ext cx="7802879" cy="6025230"/>
          </a:xfrm>
          <a:prstGeom prst="rect">
            <a:avLst/>
          </a:prstGeom>
        </p:spPr>
      </p:pic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86C9AF3-2616-5360-7178-79EAF722D310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988126" y="2712230"/>
            <a:ext cx="1069974" cy="55112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038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DD5A7-32E3-6DBA-CA87-EE4156AD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9">
            <a:extLst>
              <a:ext uri="{FF2B5EF4-FFF2-40B4-BE49-F238E27FC236}">
                <a16:creationId xmlns:a16="http://schemas.microsoft.com/office/drawing/2014/main" id="{86BC329E-48A9-B282-341F-F2285FDEE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95389" y="510165"/>
            <a:ext cx="7802879" cy="6025230"/>
          </a:xfrm>
          <a:prstGeom prst="rect">
            <a:avLst/>
          </a:prstGeom>
        </p:spPr>
      </p:pic>
      <p:pic>
        <p:nvPicPr>
          <p:cNvPr id="6" name="Picture 6" descr="A group of books on a red circle&#10;&#10;Description automatically generated with low confidence">
            <a:extLst>
              <a:ext uri="{FF2B5EF4-FFF2-40B4-BE49-F238E27FC236}">
                <a16:creationId xmlns:a16="http://schemas.microsoft.com/office/drawing/2014/main" id="{DDA1C8EA-12D1-49AE-A7B2-83BDF717F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636" b="11042"/>
          <a:stretch>
            <a:fillRect/>
          </a:stretch>
        </p:blipFill>
        <p:spPr bwMode="auto">
          <a:xfrm>
            <a:off x="99593" y="266430"/>
            <a:ext cx="2295914" cy="2186376"/>
          </a:xfrm>
          <a:prstGeom prst="rect">
            <a:avLst/>
          </a:prstGeom>
        </p:spPr>
      </p:pic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98043AF9-04E3-F08A-E79F-B1FEF782CFD9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988126" y="2712230"/>
            <a:ext cx="1069974" cy="55112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6" descr="A group of books on a red circle&#10;&#10;Description automatically generated with low confidence">
            <a:extLst>
              <a:ext uri="{FF2B5EF4-FFF2-40B4-BE49-F238E27FC236}">
                <a16:creationId xmlns:a16="http://schemas.microsoft.com/office/drawing/2014/main" id="{ABA8E80C-0174-D248-4F0F-9212A9EAC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636" b="11042"/>
          <a:stretch>
            <a:fillRect/>
          </a:stretch>
        </p:blipFill>
        <p:spPr bwMode="auto">
          <a:xfrm>
            <a:off x="9598268" y="266429"/>
            <a:ext cx="2295914" cy="2186376"/>
          </a:xfrm>
          <a:prstGeom prst="rect">
            <a:avLst/>
          </a:prstGeom>
        </p:spPr>
      </p:pic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5551A4A-FBF6-F6C8-1811-03B325DD28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870436" y="652579"/>
            <a:ext cx="4202478" cy="707039"/>
          </a:xfrm>
          <a:prstGeom prst="bentConnector3">
            <a:avLst>
              <a:gd name="adj1" fmla="val 9999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39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6DAFDC-7AAB-8813-B105-CDC50873C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522" y="1698073"/>
            <a:ext cx="1912955" cy="13730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47D32D-AA72-A125-B35F-BE1FA090C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15" y="1736963"/>
            <a:ext cx="1354479" cy="1203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466AD5-3683-A1D5-BA68-C4DEF9290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398" y="1555311"/>
            <a:ext cx="1567286" cy="1567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9AC6E-76ED-6E2A-110A-197354A46795}"/>
              </a:ext>
            </a:extLst>
          </p:cNvPr>
          <p:cNvSpPr txBox="1"/>
          <p:nvPr/>
        </p:nvSpPr>
        <p:spPr>
          <a:xfrm>
            <a:off x="1898060" y="3477296"/>
            <a:ext cx="2396810" cy="1702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Proteome</a:t>
            </a:r>
            <a:endParaRPr lang="en-GB" sz="9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unique proteins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protein clusters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redundant proteins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E60FC-8870-5A81-230C-EB38E73FF19E}"/>
              </a:ext>
            </a:extLst>
          </p:cNvPr>
          <p:cNvSpPr txBox="1"/>
          <p:nvPr/>
        </p:nvSpPr>
        <p:spPr>
          <a:xfrm>
            <a:off x="4846298" y="3477296"/>
            <a:ext cx="2499402" cy="1702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Genome</a:t>
            </a:r>
            <a:endParaRPr lang="en-GB" sz="9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gene orthologues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organisms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metabolic pathways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78B89-7203-0994-6F0E-57BFFCD26E79}"/>
              </a:ext>
            </a:extLst>
          </p:cNvPr>
          <p:cNvSpPr txBox="1"/>
          <p:nvPr/>
        </p:nvSpPr>
        <p:spPr>
          <a:xfrm>
            <a:off x="8489635" y="3477296"/>
            <a:ext cx="1665841" cy="1702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Reactome</a:t>
            </a:r>
            <a:endParaRPr lang="en-GB" sz="9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reactions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enzymes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compounds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2AB3B493-9A4A-F946-0C1D-073721C7F9A9}"/>
              </a:ext>
            </a:extLst>
          </p:cNvPr>
          <p:cNvSpPr txBox="1">
            <a:spLocks/>
          </p:cNvSpPr>
          <p:nvPr/>
        </p:nvSpPr>
        <p:spPr>
          <a:xfrm>
            <a:off x="1078028" y="438150"/>
            <a:ext cx="10145029" cy="12525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dirty="0"/>
              <a:t>Databases are a goldmine of knowledge</a:t>
            </a:r>
          </a:p>
        </p:txBody>
      </p:sp>
    </p:spTree>
    <p:extLst>
      <p:ext uri="{BB962C8B-B14F-4D97-AF65-F5344CB8AC3E}">
        <p14:creationId xmlns:p14="http://schemas.microsoft.com/office/powerpoint/2010/main" val="229782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2A16-F7D0-2806-57B8-EE049076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D2D29F-F377-57CB-981B-55698DEA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522" y="1698073"/>
            <a:ext cx="1912955" cy="13730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E59542-3BEB-6B0F-0284-D0AB911EB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15" y="1736963"/>
            <a:ext cx="1354479" cy="1203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B4AFB5-3CC0-D960-42EF-2F36F61E0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398" y="1555311"/>
            <a:ext cx="1567286" cy="1567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F57AA8-9A14-4EFF-78D6-B8687AB69C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628" y="3428999"/>
            <a:ext cx="2922826" cy="1654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E46252-1859-F5EC-EFEC-18626C8DC7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778" y="3429000"/>
            <a:ext cx="2843526" cy="16547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8056E0-B25F-F523-A9A3-C85F943DC9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185" y="3431098"/>
            <a:ext cx="3335628" cy="1652662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309E2DCD-958E-55B4-F701-7EAD03460850}"/>
              </a:ext>
            </a:extLst>
          </p:cNvPr>
          <p:cNvSpPr txBox="1">
            <a:spLocks/>
          </p:cNvSpPr>
          <p:nvPr/>
        </p:nvSpPr>
        <p:spPr>
          <a:xfrm>
            <a:off x="1078028" y="438150"/>
            <a:ext cx="10145029" cy="12525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dirty="0"/>
              <a:t>Databases are networks!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B5FA5A-24DD-1AE5-23BA-4B7D08F6443C}"/>
              </a:ext>
            </a:extLst>
          </p:cNvPr>
          <p:cNvSpPr/>
          <p:nvPr/>
        </p:nvSpPr>
        <p:spPr>
          <a:xfrm>
            <a:off x="3791415" y="4286528"/>
            <a:ext cx="178420" cy="1784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2C69C-3A8A-F8F1-262F-CF270392AA6E}"/>
              </a:ext>
            </a:extLst>
          </p:cNvPr>
          <p:cNvSpPr/>
          <p:nvPr/>
        </p:nvSpPr>
        <p:spPr>
          <a:xfrm>
            <a:off x="5917579" y="4769003"/>
            <a:ext cx="178420" cy="1784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69E74-A258-ED95-E3A0-ACBF52BB1410}"/>
              </a:ext>
            </a:extLst>
          </p:cNvPr>
          <p:cNvSpPr/>
          <p:nvPr/>
        </p:nvSpPr>
        <p:spPr>
          <a:xfrm>
            <a:off x="8163437" y="4295448"/>
            <a:ext cx="178420" cy="1784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62A596-78F4-739F-861B-1D4426101FC0}"/>
              </a:ext>
            </a:extLst>
          </p:cNvPr>
          <p:cNvSpPr/>
          <p:nvPr/>
        </p:nvSpPr>
        <p:spPr>
          <a:xfrm>
            <a:off x="3999606" y="4336709"/>
            <a:ext cx="178420" cy="1784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D1E50A-F913-2077-DA7F-D6D07A9511DB}"/>
              </a:ext>
            </a:extLst>
          </p:cNvPr>
          <p:cNvSpPr/>
          <p:nvPr/>
        </p:nvSpPr>
        <p:spPr>
          <a:xfrm>
            <a:off x="8359697" y="4350089"/>
            <a:ext cx="178420" cy="1784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6F70D6-401E-42ED-1586-94EF1501F540}"/>
              </a:ext>
            </a:extLst>
          </p:cNvPr>
          <p:cNvSpPr/>
          <p:nvPr/>
        </p:nvSpPr>
        <p:spPr>
          <a:xfrm>
            <a:off x="9495636" y="4158289"/>
            <a:ext cx="178420" cy="1784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AF683-255E-3659-343D-74FB50B4401F}"/>
              </a:ext>
            </a:extLst>
          </p:cNvPr>
          <p:cNvSpPr/>
          <p:nvPr/>
        </p:nvSpPr>
        <p:spPr>
          <a:xfrm>
            <a:off x="7220670" y="4642171"/>
            <a:ext cx="178420" cy="1784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18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72F74-359D-8B8C-74FB-11CF9F74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9A5E28-A390-F357-5DD8-F7A67E531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522" y="1698073"/>
            <a:ext cx="1912955" cy="13730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1A3504-824A-AA5A-7070-088E206A8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15" y="1736963"/>
            <a:ext cx="1354479" cy="1203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B9B890-E06C-07D1-753C-C5500B8D0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398" y="1555311"/>
            <a:ext cx="1567286" cy="1567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EAFEF-82B5-4EEC-11DF-AAB0F7F0D8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672" y="3278038"/>
            <a:ext cx="7176654" cy="2506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2D047D-6E68-AA59-C398-04F3966333BB}"/>
              </a:ext>
            </a:extLst>
          </p:cNvPr>
          <p:cNvSpPr txBox="1"/>
          <p:nvPr/>
        </p:nvSpPr>
        <p:spPr>
          <a:xfrm>
            <a:off x="4138560" y="2061954"/>
            <a:ext cx="4090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BB974-DCCA-C4E9-18FA-45C168DAE670}"/>
              </a:ext>
            </a:extLst>
          </p:cNvPr>
          <p:cNvSpPr txBox="1"/>
          <p:nvPr/>
        </p:nvSpPr>
        <p:spPr>
          <a:xfrm>
            <a:off x="7644353" y="2061954"/>
            <a:ext cx="4090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/>
              <a:t>+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11D07241-3580-97A4-FAAF-D79113D1A9D7}"/>
              </a:ext>
            </a:extLst>
          </p:cNvPr>
          <p:cNvSpPr txBox="1">
            <a:spLocks/>
          </p:cNvSpPr>
          <p:nvPr/>
        </p:nvSpPr>
        <p:spPr>
          <a:xfrm>
            <a:off x="1078028" y="438150"/>
            <a:ext cx="10145029" cy="12525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sz="3000" dirty="0"/>
              <a:t>The sum of the parts is greater than the whole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3AB2F-C7E9-AA84-1EB0-9EAE326CDCC2}"/>
              </a:ext>
            </a:extLst>
          </p:cNvPr>
          <p:cNvSpPr/>
          <p:nvPr/>
        </p:nvSpPr>
        <p:spPr>
          <a:xfrm>
            <a:off x="6220868" y="4919336"/>
            <a:ext cx="228483" cy="1784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A7319-AFBE-3291-095F-E4F8D55B5A05}"/>
              </a:ext>
            </a:extLst>
          </p:cNvPr>
          <p:cNvSpPr/>
          <p:nvPr/>
        </p:nvSpPr>
        <p:spPr>
          <a:xfrm>
            <a:off x="5942289" y="4857297"/>
            <a:ext cx="228483" cy="1784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20C90-362B-4310-02A0-FBB5C3C6A2D8}"/>
              </a:ext>
            </a:extLst>
          </p:cNvPr>
          <p:cNvSpPr/>
          <p:nvPr/>
        </p:nvSpPr>
        <p:spPr>
          <a:xfrm>
            <a:off x="7853277" y="4686295"/>
            <a:ext cx="279219" cy="2157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69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AA707-7B41-11B1-CAD7-C4A14308A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955" y="1379035"/>
            <a:ext cx="6742090" cy="504081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A2D4A7D7-DA74-444C-479A-A8CF375D6989}"/>
              </a:ext>
            </a:extLst>
          </p:cNvPr>
          <p:cNvSpPr txBox="1">
            <a:spLocks/>
          </p:cNvSpPr>
          <p:nvPr/>
        </p:nvSpPr>
        <p:spPr>
          <a:xfrm>
            <a:off x="1078028" y="438150"/>
            <a:ext cx="10145029" cy="12525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dirty="0"/>
              <a:t>Knowledge integration is complicated</a:t>
            </a:r>
          </a:p>
        </p:txBody>
      </p:sp>
    </p:spTree>
    <p:extLst>
      <p:ext uri="{BB962C8B-B14F-4D97-AF65-F5344CB8AC3E}">
        <p14:creationId xmlns:p14="http://schemas.microsoft.com/office/powerpoint/2010/main" val="1404370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18E941-F85D-1A11-5B5A-D69AB65FB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477" y="1700360"/>
            <a:ext cx="2273045" cy="2487850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F12D350E-556C-A9E8-6B17-42BEEBEFD236}"/>
              </a:ext>
            </a:extLst>
          </p:cNvPr>
          <p:cNvSpPr txBox="1">
            <a:spLocks/>
          </p:cNvSpPr>
          <p:nvPr/>
        </p:nvSpPr>
        <p:spPr>
          <a:xfrm>
            <a:off x="1078028" y="438150"/>
            <a:ext cx="10145029" cy="12525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GB" i="1" dirty="0" err="1"/>
              <a:t>ariadne</a:t>
            </a:r>
            <a:r>
              <a:rPr lang="en-GB" dirty="0"/>
              <a:t> is here to help!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DF7A7-B94E-32E7-3762-A2FB562EB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998" y="2741314"/>
            <a:ext cx="3522002" cy="2134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119456-F3BF-C0AF-165A-8FCCF106AB0A}"/>
              </a:ext>
            </a:extLst>
          </p:cNvPr>
          <p:cNvSpPr txBox="1"/>
          <p:nvPr/>
        </p:nvSpPr>
        <p:spPr>
          <a:xfrm>
            <a:off x="613953" y="1498020"/>
            <a:ext cx="398294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1800" b="1" i="1" dirty="0" err="1"/>
              <a:t>ariadne</a:t>
            </a:r>
            <a:r>
              <a:rPr lang="en-GB" sz="1800" b="1" dirty="0"/>
              <a:t> technical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Graph database built with </a:t>
            </a:r>
            <a:r>
              <a:rPr lang="en-GB" sz="1800" i="1" dirty="0" err="1"/>
              <a:t>igraph</a:t>
            </a: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Fast data retrieval with SPARQL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Efficient storage with </a:t>
            </a:r>
            <a:r>
              <a:rPr lang="en-GB" sz="1800" i="1" dirty="0"/>
              <a:t>arrow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High performance with </a:t>
            </a:r>
            <a:r>
              <a:rPr lang="en-GB" sz="1800" i="1" dirty="0" err="1"/>
              <a:t>data.table</a:t>
            </a:r>
            <a:endParaRPr lang="en-GB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Weaving paths with </a:t>
            </a:r>
            <a:r>
              <a:rPr lang="en-GB" sz="1800" i="1" dirty="0" err="1"/>
              <a:t>MultiFactor</a:t>
            </a:r>
            <a:endParaRPr lang="en-GB" sz="1800" i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A70E003-59E5-6BFF-6D08-4FB061495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3" y="4563512"/>
            <a:ext cx="4450416" cy="16676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D323187-9251-2851-95B2-59FDC3F3DBE7}"/>
              </a:ext>
            </a:extLst>
          </p:cNvPr>
          <p:cNvSpPr txBox="1"/>
          <p:nvPr/>
        </p:nvSpPr>
        <p:spPr>
          <a:xfrm>
            <a:off x="1605490" y="4194180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MinotauR</a:t>
            </a:r>
            <a:r>
              <a:rPr lang="en-GB" b="1" dirty="0"/>
              <a:t> framework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981AB3-A216-DECF-E1E4-6D4CE54944FC}"/>
              </a:ext>
            </a:extLst>
          </p:cNvPr>
          <p:cNvSpPr txBox="1"/>
          <p:nvPr/>
        </p:nvSpPr>
        <p:spPr>
          <a:xfrm>
            <a:off x="8447707" y="2267461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 err="1"/>
              <a:t>ariadne</a:t>
            </a:r>
            <a:r>
              <a:rPr lang="en-GB" b="1" dirty="0"/>
              <a:t> components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E45DEE-A95F-35FC-0B46-370F8F995A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403" y="5356698"/>
            <a:ext cx="3739481" cy="71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0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B23398-DC13-C7B8-C193-549FDE29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4" b="31296"/>
          <a:stretch>
            <a:fillRect/>
          </a:stretch>
        </p:blipFill>
        <p:spPr>
          <a:xfrm>
            <a:off x="1036592" y="1104034"/>
            <a:ext cx="10118816" cy="4711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67DBCD-78DD-5C86-AFDF-463ACC9D6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951" y="226713"/>
            <a:ext cx="951400" cy="1041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16A89-29B7-576E-EC31-4C42E3CAB251}"/>
              </a:ext>
            </a:extLst>
          </p:cNvPr>
          <p:cNvSpPr txBox="1"/>
          <p:nvPr/>
        </p:nvSpPr>
        <p:spPr>
          <a:xfrm>
            <a:off x="975360" y="461554"/>
            <a:ext cx="4733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graph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ariadne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weavePath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(graph,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chebi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2129A3-894E-9B69-4895-31022E75F79D}"/>
              </a:ext>
            </a:extLst>
          </p:cNvPr>
          <p:cNvSpPr/>
          <p:nvPr/>
        </p:nvSpPr>
        <p:spPr>
          <a:xfrm>
            <a:off x="1221331" y="3357063"/>
            <a:ext cx="466792" cy="4412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4C89BB-F8E6-F2F2-63B8-7EA60C513F36}"/>
              </a:ext>
            </a:extLst>
          </p:cNvPr>
          <p:cNvSpPr/>
          <p:nvPr/>
        </p:nvSpPr>
        <p:spPr>
          <a:xfrm>
            <a:off x="8369212" y="3637351"/>
            <a:ext cx="466792" cy="4412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A0866-BA59-FF21-06C8-E7A64AF68603}"/>
              </a:ext>
            </a:extLst>
          </p:cNvPr>
          <p:cNvSpPr txBox="1"/>
          <p:nvPr/>
        </p:nvSpPr>
        <p:spPr>
          <a:xfrm>
            <a:off x="994729" y="2987731"/>
            <a:ext cx="9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START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91FC0-1054-B480-3600-8CEBA1859A33}"/>
              </a:ext>
            </a:extLst>
          </p:cNvPr>
          <p:cNvSpPr txBox="1"/>
          <p:nvPr/>
        </p:nvSpPr>
        <p:spPr>
          <a:xfrm>
            <a:off x="8266618" y="326801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58735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200E0D-AF96-4B20-0D46-4C6038F49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4" b="31296"/>
          <a:stretch>
            <a:fillRect/>
          </a:stretch>
        </p:blipFill>
        <p:spPr>
          <a:xfrm>
            <a:off x="1036592" y="1104034"/>
            <a:ext cx="10118816" cy="4711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91971B-A49C-3B59-9D67-A7E78597414F}"/>
              </a:ext>
            </a:extLst>
          </p:cNvPr>
          <p:cNvSpPr txBox="1"/>
          <p:nvPr/>
        </p:nvSpPr>
        <p:spPr>
          <a:xfrm>
            <a:off x="975360" y="461554"/>
            <a:ext cx="4733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graph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ariadne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weavePath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(graph,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taxid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~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chebi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0724D-E284-B261-E79B-CE891D4DF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951" y="226713"/>
            <a:ext cx="951400" cy="1041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4FFA7B-78FA-4081-3386-0AF3F3C13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383" y="4855362"/>
            <a:ext cx="1059545" cy="1059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62465-51EC-DFCF-CF68-C6C142A8F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652" y="2408739"/>
            <a:ext cx="1277948" cy="917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820327-8833-C541-2C8D-3E1B779F7F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071" y="4515791"/>
            <a:ext cx="1059545" cy="941818"/>
          </a:xfrm>
          <a:prstGeom prst="rect">
            <a:avLst/>
          </a:prstGeom>
        </p:spPr>
      </p:pic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47B0EFC5-675D-C7DF-3DF1-45458773ECDA}"/>
              </a:ext>
            </a:extLst>
          </p:cNvPr>
          <p:cNvCxnSpPr>
            <a:stCxn id="5" idx="1"/>
          </p:cNvCxnSpPr>
          <p:nvPr/>
        </p:nvCxnSpPr>
        <p:spPr>
          <a:xfrm rot="10800000">
            <a:off x="2723883" y="3986019"/>
            <a:ext cx="372501" cy="1399117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952C36E4-A7FF-1B6B-A5FC-57E264D8374C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155928" y="4515791"/>
            <a:ext cx="813997" cy="869344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C89F1C0-BDE7-8F3F-96C7-8E8D6FFC85F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476600" y="2867358"/>
            <a:ext cx="542386" cy="1340468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16051432-C9FB-4D21-5C5D-F4A17232F1E9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>
            <a:off x="8536391" y="4200338"/>
            <a:ext cx="742681" cy="786362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BFFC3AE-27E4-FCAE-3430-DAF56C78C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898529"/>
              </p:ext>
            </p:extLst>
          </p:nvPr>
        </p:nvGraphicFramePr>
        <p:xfrm>
          <a:off x="9552698" y="2584296"/>
          <a:ext cx="1571836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85918">
                  <a:extLst>
                    <a:ext uri="{9D8B030D-6E8A-4147-A177-3AD203B41FA5}">
                      <a16:colId xmlns:a16="http://schemas.microsoft.com/office/drawing/2014/main" val="129198704"/>
                    </a:ext>
                  </a:extLst>
                </a:gridCol>
                <a:gridCol w="785918">
                  <a:extLst>
                    <a:ext uri="{9D8B030D-6E8A-4147-A177-3AD203B41FA5}">
                      <a16:colId xmlns:a16="http://schemas.microsoft.com/office/drawing/2014/main" val="3435216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/>
                        <a:t>taxid</a:t>
                      </a:r>
                      <a:endParaRPr lang="en-GB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 err="1"/>
                        <a:t>chebi</a:t>
                      </a:r>
                      <a:endParaRPr lang="en-GB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3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01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5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5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575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350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5CE4C-E0ED-3ED0-7083-068A95595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fontAlgn="base"/>
            <a:r>
              <a:rPr lang="en-DE" dirty="0"/>
              <a:t>Functional annotation</a:t>
            </a:r>
          </a:p>
          <a:p>
            <a:pPr marL="285750" indent="-285750" fontAlgn="base"/>
            <a:r>
              <a:rPr lang="en-DE" dirty="0"/>
              <a:t>Knowledge-driven stratified analyses</a:t>
            </a:r>
          </a:p>
          <a:p>
            <a:pPr marL="285750" indent="-285750" fontAlgn="base"/>
            <a:r>
              <a:rPr lang="en-DE" dirty="0"/>
              <a:t>Gene/Microbe-set enrichment analysis</a:t>
            </a:r>
          </a:p>
          <a:p>
            <a:pPr marL="285750" indent="-285750" fontAlgn="base"/>
            <a:r>
              <a:rPr lang="en-DE" dirty="0"/>
              <a:t>Pathway enrichment analysis</a:t>
            </a:r>
          </a:p>
          <a:p>
            <a:pPr marL="285750" indent="-285750" fontAlgn="base"/>
            <a:r>
              <a:rPr lang="en-DE" dirty="0"/>
              <a:t>And more…</a:t>
            </a:r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E4180A-107D-6231-417B-095830C2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5D407A-FA7B-E43D-270E-14C5A42BA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951" y="226713"/>
            <a:ext cx="951400" cy="10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2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A3E2B4-055B-E123-262B-CDB8FE61F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General framework for biological knowledge integration</a:t>
            </a:r>
          </a:p>
          <a:p>
            <a:r>
              <a:rPr lang="en-GB" dirty="0"/>
              <a:t>Takes care of all tedious tasks</a:t>
            </a:r>
          </a:p>
          <a:p>
            <a:r>
              <a:rPr lang="en-GB" dirty="0"/>
              <a:t>Useful to:</a:t>
            </a:r>
          </a:p>
          <a:p>
            <a:pPr marL="457200" lvl="1" indent="0">
              <a:buNone/>
            </a:pPr>
            <a:r>
              <a:rPr lang="en-GB" dirty="0"/>
              <a:t>&gt; Annotate or stratify features </a:t>
            </a:r>
          </a:p>
          <a:p>
            <a:pPr marL="457200" lvl="1" indent="0">
              <a:buNone/>
            </a:pPr>
            <a:r>
              <a:rPr lang="en-GB" dirty="0"/>
              <a:t>&gt; Perform pathway or set enrichment analyses</a:t>
            </a:r>
          </a:p>
          <a:p>
            <a:r>
              <a:rPr lang="en-GB" dirty="0"/>
              <a:t>Your favourite database is missing?</a:t>
            </a:r>
          </a:p>
          <a:p>
            <a:pPr marL="457200" lvl="1" indent="0">
              <a:buNone/>
            </a:pPr>
            <a:r>
              <a:rPr lang="en-GB" dirty="0"/>
              <a:t>&gt; Contribute to </a:t>
            </a:r>
            <a:r>
              <a:rPr lang="en-GB" dirty="0" err="1"/>
              <a:t>ariadne</a:t>
            </a:r>
            <a:r>
              <a:rPr lang="en-GB" dirty="0"/>
              <a:t> or open an issue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53A410-8DE7-4389-8F7C-8AAB19542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A04926-4E41-2E92-616E-4E132B7CF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951" y="226713"/>
            <a:ext cx="951400" cy="10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2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ACDB14A-A497-ED45-8CA4-B2CFFBBF2255}"/>
              </a:ext>
            </a:extLst>
          </p:cNvPr>
          <p:cNvSpPr txBox="1">
            <a:spLocks/>
          </p:cNvSpPr>
          <p:nvPr/>
        </p:nvSpPr>
        <p:spPr>
          <a:xfrm>
            <a:off x="1037221" y="451358"/>
            <a:ext cx="10145029" cy="6352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i-FI" dirty="0" err="1"/>
              <a:t>Acknowledgements</a:t>
            </a:r>
            <a:endParaRPr lang="fi-F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72596-CC8C-E954-775C-FC758E3D3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73" y="1592582"/>
            <a:ext cx="2707976" cy="4341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8ED770-6B46-820C-1765-DC03893EB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310" y="1270737"/>
            <a:ext cx="2798658" cy="10362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3D014C-723D-2486-0E34-0BD58A684B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802"/>
          <a:stretch>
            <a:fillRect/>
          </a:stretch>
        </p:blipFill>
        <p:spPr>
          <a:xfrm>
            <a:off x="1500375" y="2412531"/>
            <a:ext cx="1617084" cy="21547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DFB3174-03A5-CD20-0993-3828FA4F84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281" y="2412532"/>
            <a:ext cx="1617084" cy="215472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92AADEB-54F5-D711-B01F-F05FA87D8E5A}"/>
              </a:ext>
            </a:extLst>
          </p:cNvPr>
          <p:cNvSpPr txBox="1"/>
          <p:nvPr/>
        </p:nvSpPr>
        <p:spPr>
          <a:xfrm>
            <a:off x="812321" y="4670949"/>
            <a:ext cx="2993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Thomaz F. S. </a:t>
            </a:r>
            <a:r>
              <a:rPr lang="en-GB" dirty="0" err="1"/>
              <a:t>Bastiaanssen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56603F-7C07-74C1-B2C2-B964975A29C5}"/>
              </a:ext>
            </a:extLst>
          </p:cNvPr>
          <p:cNvSpPr txBox="1"/>
          <p:nvPr/>
        </p:nvSpPr>
        <p:spPr>
          <a:xfrm>
            <a:off x="5214001" y="4672771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Leo Lahti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2C180A-9ADC-40F2-9D5B-E335F1A3CBC1}"/>
              </a:ext>
            </a:extLst>
          </p:cNvPr>
          <p:cNvSpPr txBox="1"/>
          <p:nvPr/>
        </p:nvSpPr>
        <p:spPr>
          <a:xfrm>
            <a:off x="7064097" y="4670949"/>
            <a:ext cx="1881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Tuomas Borman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7D64997-2F63-7560-EF91-117AD4488B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2" t="40570" r="16770" b="11858"/>
          <a:stretch>
            <a:fillRect/>
          </a:stretch>
        </p:blipFill>
        <p:spPr>
          <a:xfrm>
            <a:off x="9420499" y="2412531"/>
            <a:ext cx="1617083" cy="215472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4D4E33F-7D79-76C3-BA0E-3F37D13EC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2" t="3672" r="34847" b="22562"/>
          <a:stretch>
            <a:fillRect/>
          </a:stretch>
        </p:blipFill>
        <p:spPr>
          <a:xfrm>
            <a:off x="7196390" y="2409513"/>
            <a:ext cx="1617084" cy="215472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EAD5A27-0ADC-3C4B-F9D3-3F048E11EC86}"/>
              </a:ext>
            </a:extLst>
          </p:cNvPr>
          <p:cNvSpPr txBox="1"/>
          <p:nvPr/>
        </p:nvSpPr>
        <p:spPr>
          <a:xfrm>
            <a:off x="9469825" y="4677749"/>
            <a:ext cx="151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Aditi Adhikari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4F6971-30B1-E0B5-56B5-0B8C430D6F8D}"/>
              </a:ext>
            </a:extLst>
          </p:cNvPr>
          <p:cNvSpPr txBox="1"/>
          <p:nvPr/>
        </p:nvSpPr>
        <p:spPr>
          <a:xfrm>
            <a:off x="3137465" y="5557992"/>
            <a:ext cx="5917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And my colleagues at the Turku Data Science Group 🙏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090D3-A0EC-692D-640E-C4F017ED3F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951" y="226713"/>
            <a:ext cx="951400" cy="10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7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29B1AA-11AB-5BB4-A8EE-A97F83735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1376"/>
            <a:ext cx="12182640" cy="455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29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TU-2018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78C8D2"/>
      </a:accent1>
      <a:accent2>
        <a:srgbClr val="9063CD"/>
      </a:accent2>
      <a:accent3>
        <a:srgbClr val="ADCB00"/>
      </a:accent3>
      <a:accent4>
        <a:srgbClr val="F8485E"/>
      </a:accent4>
      <a:accent5>
        <a:srgbClr val="868686"/>
      </a:accent5>
      <a:accent6>
        <a:srgbClr val="D9D9D9"/>
      </a:accent6>
      <a:hlink>
        <a:srgbClr val="9063CD"/>
      </a:hlink>
      <a:folHlink>
        <a:srgbClr val="9063C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A407D4FD17612942B689264A64C80E05" ma:contentTypeVersion="1" ma:contentTypeDescription="Luo uusi asiakirja." ma:contentTypeScope="" ma:versionID="0480f80a69f636fdb437def8970b05b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fd992add4e3bc107ac41e75fb37a5a16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joituksen alkamispäivämäärä" ma:description="Ajoituksen alkamispäivämäärä on julkaisuominaisuuden luoma sivustosarake. Sillä määritetään päivämäärä ja kellonaika, jolloin vierailijat näkevät sivuston ensimmäisen kerran." ma:hidden="true" ma:internalName="PublishingStartDate">
      <xsd:simpleType>
        <xsd:restriction base="dms:Unknown"/>
      </xsd:simpleType>
    </xsd:element>
    <xsd:element name="PublishingExpirationDate" ma:index="9" nillable="true" ma:displayName="Ajoituksen päättymispäivämäärä" ma:description="Ajoituksen päättymispäivämäärä on julkaisuominaisuuden luoma sivustosarake. Sillä määritetään päivämäärä ja kellonaika, jolloin vierailijat eivät enää näe tätä sivustoa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CDF4772-F6E9-4CDC-A377-AA1F66B5AA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279BB5-4AFF-46DF-8449-888BC8E5C3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D425F4-6F88-4EF6-B6D4-CBA8937CC1BB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224</Words>
  <Application>Microsoft Macintosh PowerPoint</Application>
  <PresentationFormat>Widescreen</PresentationFormat>
  <Paragraphs>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Ariadne’s thread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</vt:lpstr>
      <vt:lpstr>Conclusions</vt:lpstr>
      <vt:lpstr>PowerPoint Presentation</vt:lpstr>
      <vt:lpstr>PowerPoint Presentation</vt:lpstr>
    </vt:vector>
  </TitlesOfParts>
  <Company>University of Turku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UTU PowerPoint template 2018</dc:title>
  <dc:creator>Laura Niemi</dc:creator>
  <cp:lastModifiedBy>Giulio Benedetti</cp:lastModifiedBy>
  <cp:revision>167</cp:revision>
  <dcterms:created xsi:type="dcterms:W3CDTF">2018-08-30T06:12:36Z</dcterms:created>
  <dcterms:modified xsi:type="dcterms:W3CDTF">2026-06-03T19:48:28Z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0x010100A407D4FD17612942B689264A64C80E05</vt:lpwstr>
  </property>
</Properties>
</file>