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51"/>
  </p:normalViewPr>
  <p:slideViewPr>
    <p:cSldViewPr snapToGrid="0">
      <p:cViewPr>
        <p:scale>
          <a:sx n="35" d="100"/>
          <a:sy n="35" d="100"/>
        </p:scale>
        <p:origin x="6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28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37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68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50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06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20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2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58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60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35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35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52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18" Type="http://schemas.openxmlformats.org/officeDocument/2006/relationships/hyperlink" Target="https://github.com/Minotau-R/ariadne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17" Type="http://schemas.openxmlformats.org/officeDocument/2006/relationships/image" Target="../media/image15.jpg"/><Relationship Id="rId2" Type="http://schemas.openxmlformats.org/officeDocument/2006/relationships/image" Target="../media/image1.png"/><Relationship Id="rId16" Type="http://schemas.openxmlformats.org/officeDocument/2006/relationships/hyperlink" Target="mailto:giulio.benedetti@utu.fi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63DE2C3A-6A02-DA72-C801-6B3DFFAB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4878" y="20218296"/>
            <a:ext cx="12711823" cy="71503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2DB047-8857-C38F-1C51-23EDE4EA64AA}"/>
              </a:ext>
            </a:extLst>
          </p:cNvPr>
          <p:cNvSpPr txBox="1"/>
          <p:nvPr/>
        </p:nvSpPr>
        <p:spPr>
          <a:xfrm>
            <a:off x="7607747" y="3103295"/>
            <a:ext cx="150579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500" u="sng" dirty="0"/>
              <a:t>Giulio Benedetti</a:t>
            </a:r>
            <a:r>
              <a:rPr lang="en-GB" sz="3500" dirty="0"/>
              <a:t>*, </a:t>
            </a:r>
            <a:r>
              <a:rPr lang="en-GB" sz="3500" u="sng" dirty="0"/>
              <a:t>Thomaz </a:t>
            </a:r>
            <a:r>
              <a:rPr lang="en-GB" sz="3500" u="sng" dirty="0" err="1"/>
              <a:t>Bastiaanssen</a:t>
            </a:r>
            <a:r>
              <a:rPr lang="en-GB" sz="3500" dirty="0"/>
              <a:t>, Aditi Adhikari, Tuomas Borman, Leo Lahti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1C68C-66F2-FD52-A8FA-432C84DDF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3428" y="37612451"/>
            <a:ext cx="1513757" cy="16721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635D836-35BD-A5F4-5543-8B8720867C36}"/>
              </a:ext>
            </a:extLst>
          </p:cNvPr>
          <p:cNvSpPr txBox="1"/>
          <p:nvPr/>
        </p:nvSpPr>
        <p:spPr>
          <a:xfrm>
            <a:off x="1572974" y="6552871"/>
            <a:ext cx="35671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The problem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72154-EA2F-DD1A-757F-F2B165D58703}"/>
              </a:ext>
            </a:extLst>
          </p:cNvPr>
          <p:cNvSpPr txBox="1"/>
          <p:nvPr/>
        </p:nvSpPr>
        <p:spPr>
          <a:xfrm>
            <a:off x="1572973" y="7364541"/>
            <a:ext cx="129771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DE" sz="3000" dirty="0"/>
              <a:t>Sometimes biology seems like a huge labyrinth with no simple paths between its different items (genes, proteins, organisms, etc.). Even when the path to take is clear, many obstacles may hide on the way: sluggish server responses, massive file volumes, incompatible data formats, just to name a few. Crossing the labyrinth without a strategy is a seriously boring and discouraging task.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B32AC-E70D-68E0-A440-DEBDC0EF5AFC}"/>
              </a:ext>
            </a:extLst>
          </p:cNvPr>
          <p:cNvSpPr/>
          <p:nvPr/>
        </p:nvSpPr>
        <p:spPr>
          <a:xfrm>
            <a:off x="-29113" y="40638131"/>
            <a:ext cx="30304326" cy="21914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0" i="0" dirty="0">
                <a:solidFill>
                  <a:schemeClr val="bg1"/>
                </a:solidFill>
                <a:effectLst/>
                <a:latin typeface="Atkinson Hyperlegible"/>
              </a:rPr>
              <a:t>	References:</a:t>
            </a:r>
          </a:p>
          <a:p>
            <a:r>
              <a:rPr lang="en-GB" sz="2800" dirty="0">
                <a:solidFill>
                  <a:schemeClr val="bg1"/>
                </a:solidFill>
                <a:latin typeface="Atkinson Hyperlegible"/>
              </a:rPr>
              <a:t>	1. </a:t>
            </a:r>
            <a:r>
              <a:rPr lang="en-DE" sz="2800" dirty="0"/>
              <a:t>Borman, T., Benedetti, G., Muluh, G., Raulo, A., Valderrama, B., Sannikov, A., ... &amp; Lahti, L. (2025). Orchestrating Microbiome Analysis with Bioconductor. </a:t>
            </a:r>
            <a:r>
              <a:rPr lang="en-DE" sz="2800" i="1" dirty="0"/>
              <a:t>bioRxiv</a:t>
            </a:r>
            <a:r>
              <a:rPr lang="en-DE" sz="2800" dirty="0"/>
              <a:t>. 10.1101/2025.10.29.685036.</a:t>
            </a:r>
            <a:endParaRPr lang="en-GB" sz="2800" b="0" i="0" dirty="0">
              <a:solidFill>
                <a:schemeClr val="bg1"/>
              </a:solidFill>
              <a:effectLst/>
              <a:latin typeface="Atkinson Hyperlegible"/>
            </a:endParaRPr>
          </a:p>
          <a:p>
            <a:r>
              <a:rPr lang="en-GB" sz="2800" b="0" i="0" dirty="0">
                <a:solidFill>
                  <a:schemeClr val="bg1"/>
                </a:solidFill>
                <a:effectLst/>
              </a:rPr>
              <a:t>	2. </a:t>
            </a:r>
            <a:r>
              <a:rPr lang="en-GB" sz="2800" dirty="0"/>
              <a:t>Benedetti, G., </a:t>
            </a:r>
            <a:r>
              <a:rPr lang="en-GB" sz="2800" dirty="0" err="1"/>
              <a:t>Bastiaanssen</a:t>
            </a:r>
            <a:r>
              <a:rPr lang="en-GB" sz="2800" dirty="0"/>
              <a:t>, T., &amp; Lahti, L. (2026). </a:t>
            </a:r>
            <a:r>
              <a:rPr lang="en-GB" sz="2800" dirty="0" err="1"/>
              <a:t>ariadneDB</a:t>
            </a:r>
            <a:r>
              <a:rPr lang="en-GB" sz="2800" dirty="0"/>
              <a:t> [Data set]. </a:t>
            </a:r>
            <a:r>
              <a:rPr lang="en-GB" sz="2800" i="1" dirty="0" err="1"/>
              <a:t>Zenodo</a:t>
            </a:r>
            <a:r>
              <a:rPr lang="en-GB" sz="2800" dirty="0"/>
              <a:t>. 10.5281/zenodo.18788725.</a:t>
            </a:r>
            <a:endParaRPr lang="en-GB" sz="2800" b="0" i="0" dirty="0">
              <a:solidFill>
                <a:schemeClr val="bg1"/>
              </a:solidFill>
              <a:effectLst/>
            </a:endParaRPr>
          </a:p>
          <a:p>
            <a:r>
              <a:rPr lang="en-GB" sz="2800" dirty="0">
                <a:solidFill>
                  <a:schemeClr val="bg1"/>
                </a:solidFill>
                <a:latin typeface="Atkinson Hyperlegible"/>
              </a:rPr>
              <a:t>	3. </a:t>
            </a:r>
            <a:r>
              <a:rPr lang="en-GB" sz="2800" dirty="0"/>
              <a:t>Morgan M, Obenchain V, Hester J, </a:t>
            </a:r>
            <a:r>
              <a:rPr lang="en-GB" sz="2800" dirty="0" err="1"/>
              <a:t>Pagès</a:t>
            </a:r>
            <a:r>
              <a:rPr lang="en-GB" sz="2800" dirty="0"/>
              <a:t> H (2026). </a:t>
            </a:r>
            <a:r>
              <a:rPr lang="en-GB" sz="2800" dirty="0" err="1"/>
              <a:t>SummarizedExperiment</a:t>
            </a:r>
            <a:r>
              <a:rPr lang="en-GB" sz="2800" dirty="0"/>
              <a:t>: A container (S4 class) for matrix-like assays. </a:t>
            </a:r>
            <a:r>
              <a:rPr lang="en-GB" sz="2800" i="1" dirty="0"/>
              <a:t>Bioconductor</a:t>
            </a:r>
            <a:r>
              <a:rPr lang="en-GB" sz="2800" dirty="0"/>
              <a:t>. 10.18129/B9.bioc.SummarizedExperiment.</a:t>
            </a:r>
            <a:endParaRPr lang="en-GB" sz="2800" dirty="0">
              <a:solidFill>
                <a:schemeClr val="bg1"/>
              </a:solidFill>
              <a:latin typeface="Atkinson Hyperlegibl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8BB32C-B4C4-6672-C9E5-33948F950385}"/>
              </a:ext>
            </a:extLst>
          </p:cNvPr>
          <p:cNvSpPr txBox="1"/>
          <p:nvPr/>
        </p:nvSpPr>
        <p:spPr>
          <a:xfrm>
            <a:off x="15725115" y="6557780"/>
            <a:ext cx="75580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The framework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8ABAB1-C294-4A48-8BA5-71E352AF3D82}"/>
              </a:ext>
            </a:extLst>
          </p:cNvPr>
          <p:cNvSpPr txBox="1"/>
          <p:nvPr/>
        </p:nvSpPr>
        <p:spPr>
          <a:xfrm>
            <a:off x="1622272" y="13458285"/>
            <a:ext cx="54672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Applications</a:t>
            </a:r>
          </a:p>
        </p:txBody>
      </p:sp>
      <p:pic>
        <p:nvPicPr>
          <p:cNvPr id="11" name="Picture 10" descr="A magnifying glass with bacteria and germs&#10;&#10;AI-generated content may be incorrect.">
            <a:extLst>
              <a:ext uri="{FF2B5EF4-FFF2-40B4-BE49-F238E27FC236}">
                <a16:creationId xmlns:a16="http://schemas.microsoft.com/office/drawing/2014/main" id="{8507E5E7-62AA-0744-D123-DEDE58CF9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5259" y="37585029"/>
            <a:ext cx="1513757" cy="165863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DE6CF1D-8D0C-7EB1-18B8-CD4AAAD845F1}"/>
              </a:ext>
            </a:extLst>
          </p:cNvPr>
          <p:cNvSpPr txBox="1"/>
          <p:nvPr/>
        </p:nvSpPr>
        <p:spPr>
          <a:xfrm>
            <a:off x="1569486" y="10817650"/>
            <a:ext cx="1298061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DE" sz="3000" dirty="0"/>
              <a:t>Luckily, ariadne is here to help. By “Assembling Relational Information Across the Database Network”, ariadne provides a </a:t>
            </a:r>
            <a:r>
              <a:rPr lang="en-DE" sz="3000" b="1" dirty="0"/>
              <a:t>harmonised graph of interlinked resources </a:t>
            </a:r>
            <a:r>
              <a:rPr lang="en-DE" sz="3000" dirty="0"/>
              <a:t>and a </a:t>
            </a:r>
            <a:r>
              <a:rPr lang="en-DE" sz="3000" b="1" dirty="0"/>
              <a:t>rich toolkit to navigate its uncharted paths</a:t>
            </a:r>
            <a:r>
              <a:rPr lang="en-DE" sz="3000" dirty="0"/>
              <a:t>. This expands the capabilities of the existing </a:t>
            </a:r>
            <a:r>
              <a:rPr lang="en-DE" sz="3000" i="1" dirty="0"/>
              <a:t>mia</a:t>
            </a:r>
            <a:r>
              <a:rPr lang="en-DE" sz="3000" dirty="0"/>
              <a:t> framework with </a:t>
            </a:r>
            <a:r>
              <a:rPr lang="en-DE" sz="3000" b="1" dirty="0"/>
              <a:t>public prior knowledge </a:t>
            </a:r>
            <a:r>
              <a:rPr lang="en-DE" sz="3000" dirty="0"/>
              <a:t>[1]. The harmonised knowledge graph is reproducible and openly available in </a:t>
            </a:r>
            <a:r>
              <a:rPr lang="en-DE" sz="3000" i="1" dirty="0"/>
              <a:t>ariadneDB</a:t>
            </a:r>
            <a:r>
              <a:rPr lang="en-DE" sz="3000" dirty="0"/>
              <a:t> [2].</a:t>
            </a:r>
            <a:endParaRPr lang="en-GB" sz="3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6D75B9-AAF9-BFD5-AB5A-37F6C6BE6872}"/>
              </a:ext>
            </a:extLst>
          </p:cNvPr>
          <p:cNvSpPr txBox="1"/>
          <p:nvPr/>
        </p:nvSpPr>
        <p:spPr>
          <a:xfrm>
            <a:off x="1572974" y="10005980"/>
            <a:ext cx="348524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The solution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C5D8A9-49F6-2B1D-3EDC-3547461A1F9A}"/>
              </a:ext>
            </a:extLst>
          </p:cNvPr>
          <p:cNvSpPr/>
          <p:nvPr/>
        </p:nvSpPr>
        <p:spPr>
          <a:xfrm>
            <a:off x="15713041" y="13840463"/>
            <a:ext cx="3157215" cy="30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F2041A-E8FF-72B4-6FAF-849039125B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519" t="5976" r="9151" b="2894"/>
          <a:stretch>
            <a:fillRect/>
          </a:stretch>
        </p:blipFill>
        <p:spPr>
          <a:xfrm>
            <a:off x="1561464" y="849173"/>
            <a:ext cx="3620953" cy="4159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DDF97F-EBD5-E52A-FF31-810C1B638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60154" y="37595621"/>
            <a:ext cx="1492136" cy="16312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8A03F9-5B78-328B-EF25-0AB48CC93DC7}"/>
              </a:ext>
            </a:extLst>
          </p:cNvPr>
          <p:cNvSpPr txBox="1"/>
          <p:nvPr/>
        </p:nvSpPr>
        <p:spPr>
          <a:xfrm>
            <a:off x="4392857" y="16632500"/>
            <a:ext cx="738715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1. Import knowledge graph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18424-5F2A-875E-521F-5B0C79CFECAB}"/>
              </a:ext>
            </a:extLst>
          </p:cNvPr>
          <p:cNvSpPr txBox="1"/>
          <p:nvPr/>
        </p:nvSpPr>
        <p:spPr>
          <a:xfrm>
            <a:off x="17891254" y="16632500"/>
            <a:ext cx="869334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2. Explore paths between nodes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BC81F-24F1-7E3B-32B6-DDBB6E4FB3A7}"/>
              </a:ext>
            </a:extLst>
          </p:cNvPr>
          <p:cNvSpPr txBox="1"/>
          <p:nvPr/>
        </p:nvSpPr>
        <p:spPr>
          <a:xfrm>
            <a:off x="4910915" y="28826584"/>
            <a:ext cx="635103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3. Weave selected path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35205-CA28-6E2E-173E-9A950BE536EF}"/>
              </a:ext>
            </a:extLst>
          </p:cNvPr>
          <p:cNvSpPr txBox="1"/>
          <p:nvPr/>
        </p:nvSpPr>
        <p:spPr>
          <a:xfrm>
            <a:off x="18150959" y="28826584"/>
            <a:ext cx="80704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4. Integrate with your dataset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AE026BB-5680-584B-5A44-08D41ABF2A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2739" y="19997094"/>
            <a:ext cx="13407386" cy="754165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69EA16C-800C-0F46-70D4-1F416D8A2C87}"/>
              </a:ext>
            </a:extLst>
          </p:cNvPr>
          <p:cNvSpPr txBox="1"/>
          <p:nvPr/>
        </p:nvSpPr>
        <p:spPr>
          <a:xfrm>
            <a:off x="5108694" y="17645367"/>
            <a:ext cx="5955476" cy="24006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Import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ariadne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database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graph &lt;-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ariadne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GB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View knowledge graph</a:t>
            </a:r>
          </a:p>
          <a:p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(graph)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5C1CA6-3D91-4711-A50C-A7C3A5D16DBE}"/>
              </a:ext>
            </a:extLst>
          </p:cNvPr>
          <p:cNvSpPr txBox="1"/>
          <p:nvPr/>
        </p:nvSpPr>
        <p:spPr>
          <a:xfrm>
            <a:off x="18631345" y="29873243"/>
            <a:ext cx="7109639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Annotate dataset rows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se &lt;-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addModules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(se, tax2path)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EEA362-2B75-E7EE-355F-5FE71DB371FF}"/>
              </a:ext>
            </a:extLst>
          </p:cNvPr>
          <p:cNvSpPr txBox="1"/>
          <p:nvPr/>
        </p:nvSpPr>
        <p:spPr>
          <a:xfrm>
            <a:off x="17130936" y="17645368"/>
            <a:ext cx="10110460" cy="24006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Search 5 shortest paths</a:t>
            </a:r>
          </a:p>
          <a:p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(graph,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kegg_path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 k = 5)</a:t>
            </a:r>
          </a:p>
          <a:p>
            <a:endParaRPr lang="en-GB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View 4</a:t>
            </a:r>
            <a:r>
              <a:rPr lang="en-GB" sz="30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shortest path</a:t>
            </a:r>
          </a:p>
          <a:p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(graph,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kegg_path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 k = 4)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0A0BBF-1C00-B2BF-ACF7-8922F583B9DB}"/>
              </a:ext>
            </a:extLst>
          </p:cNvPr>
          <p:cNvSpPr txBox="1"/>
          <p:nvPr/>
        </p:nvSpPr>
        <p:spPr>
          <a:xfrm>
            <a:off x="26095434" y="37745049"/>
            <a:ext cx="106952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0" dirty="0"/>
              <a:t>…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C507A5-F396-C9DF-5CA2-7A567760997D}"/>
              </a:ext>
            </a:extLst>
          </p:cNvPr>
          <p:cNvSpPr txBox="1"/>
          <p:nvPr/>
        </p:nvSpPr>
        <p:spPr>
          <a:xfrm>
            <a:off x="2196648" y="29873243"/>
            <a:ext cx="11726287" cy="4247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>
            <a:solidFill>
              <a:schemeClr val="accent2">
                <a:lumMod val="40000"/>
                <a:lumOff val="6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726287"/>
                      <a:gd name="csY0" fmla="*/ 0 h 4247317"/>
                      <a:gd name="csX1" fmla="*/ 11726287 w 11726287"/>
                      <a:gd name="csY1" fmla="*/ 0 h 4247317"/>
                      <a:gd name="csX2" fmla="*/ 11726287 w 11726287"/>
                      <a:gd name="csY2" fmla="*/ 4247317 h 4247317"/>
                      <a:gd name="csX3" fmla="*/ 0 w 11726287"/>
                      <a:gd name="csY3" fmla="*/ 4247317 h 4247317"/>
                      <a:gd name="csX4" fmla="*/ 0 w 11726287"/>
                      <a:gd name="csY4" fmla="*/ 0 h 424731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1726287" h="4247317" fill="none" extrusionOk="0">
                        <a:moveTo>
                          <a:pt x="0" y="0"/>
                        </a:moveTo>
                        <a:cubicBezTo>
                          <a:pt x="1248195" y="-49533"/>
                          <a:pt x="9889593" y="-14809"/>
                          <a:pt x="11726287" y="0"/>
                        </a:cubicBezTo>
                        <a:cubicBezTo>
                          <a:pt x="11813926" y="2018612"/>
                          <a:pt x="11653608" y="2397025"/>
                          <a:pt x="11726287" y="4247317"/>
                        </a:cubicBezTo>
                        <a:cubicBezTo>
                          <a:pt x="9249632" y="4199086"/>
                          <a:pt x="2892545" y="4331772"/>
                          <a:pt x="0" y="4247317"/>
                        </a:cubicBezTo>
                        <a:cubicBezTo>
                          <a:pt x="-38581" y="2785428"/>
                          <a:pt x="63341" y="1373864"/>
                          <a:pt x="0" y="0"/>
                        </a:cubicBezTo>
                        <a:close/>
                      </a:path>
                      <a:path w="11726287" h="4247317" stroke="0" extrusionOk="0">
                        <a:moveTo>
                          <a:pt x="0" y="0"/>
                        </a:moveTo>
                        <a:cubicBezTo>
                          <a:pt x="3585005" y="118645"/>
                          <a:pt x="7219854" y="116012"/>
                          <a:pt x="11726287" y="0"/>
                        </a:cubicBezTo>
                        <a:cubicBezTo>
                          <a:pt x="11593405" y="1680520"/>
                          <a:pt x="11811238" y="2207226"/>
                          <a:pt x="11726287" y="4247317"/>
                        </a:cubicBezTo>
                        <a:cubicBezTo>
                          <a:pt x="9343535" y="4381917"/>
                          <a:pt x="2145646" y="4090121"/>
                          <a:pt x="0" y="4247317"/>
                        </a:cubicBezTo>
                        <a:cubicBezTo>
                          <a:pt x="-20187" y="3733575"/>
                          <a:pt x="-152480" y="179747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Get simple links between taxa and KEGG pathways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tax2path &lt;-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weavePath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graph,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kegg_path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 k = 4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Get complex links between taxa and KEGG pathways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tax2path &lt;-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weaveComplex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graph,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kegg_path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 k = 4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2DBD169-D4C6-E025-0AFD-ED076607B57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86" t="25029" r="10625" b="13914"/>
          <a:stretch>
            <a:fillRect/>
          </a:stretch>
        </p:blipFill>
        <p:spPr>
          <a:xfrm>
            <a:off x="7369807" y="4879984"/>
            <a:ext cx="3684645" cy="1062667"/>
          </a:xfrm>
          <a:prstGeom prst="rect">
            <a:avLst/>
          </a:prstGeom>
        </p:spPr>
      </p:pic>
      <p:graphicFrame>
        <p:nvGraphicFramePr>
          <p:cNvPr id="1024" name="Table 1023">
            <a:extLst>
              <a:ext uri="{FF2B5EF4-FFF2-40B4-BE49-F238E27FC236}">
                <a16:creationId xmlns:a16="http://schemas.microsoft.com/office/drawing/2014/main" id="{953D1426-0FF8-590D-7B68-B4D663F75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03913"/>
              </p:ext>
            </p:extLst>
          </p:nvPr>
        </p:nvGraphicFramePr>
        <p:xfrm>
          <a:off x="5149989" y="35446223"/>
          <a:ext cx="5819604" cy="393004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9802">
                  <a:extLst>
                    <a:ext uri="{9D8B030D-6E8A-4147-A177-3AD203B41FA5}">
                      <a16:colId xmlns:a16="http://schemas.microsoft.com/office/drawing/2014/main" val="900627522"/>
                    </a:ext>
                  </a:extLst>
                </a:gridCol>
                <a:gridCol w="2909802">
                  <a:extLst>
                    <a:ext uri="{9D8B030D-6E8A-4147-A177-3AD203B41FA5}">
                      <a16:colId xmlns:a16="http://schemas.microsoft.com/office/drawing/2014/main" val="2736560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err="1"/>
                        <a:t>taxid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err="1"/>
                        <a:t>kegg_path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619783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map05205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77257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map05418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757863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map00030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025958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map00051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281483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map00052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973921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map00061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149489"/>
                  </a:ext>
                </a:extLst>
              </a:tr>
            </a:tbl>
          </a:graphicData>
        </a:graphic>
      </p:graphicFrame>
      <p:sp>
        <p:nvSpPr>
          <p:cNvPr id="1025" name="TextBox 1024">
            <a:extLst>
              <a:ext uri="{FF2B5EF4-FFF2-40B4-BE49-F238E27FC236}">
                <a16:creationId xmlns:a16="http://schemas.microsoft.com/office/drawing/2014/main" id="{C86491D8-36E0-8CB1-84B8-6514935E03AA}"/>
              </a:ext>
            </a:extLst>
          </p:cNvPr>
          <p:cNvSpPr txBox="1"/>
          <p:nvPr/>
        </p:nvSpPr>
        <p:spPr>
          <a:xfrm>
            <a:off x="25943785" y="36487200"/>
            <a:ext cx="1857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Adapted from [3].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9A19E-D384-DD0D-AF28-B85C8237638A}"/>
              </a:ext>
            </a:extLst>
          </p:cNvPr>
          <p:cNvSpPr txBox="1"/>
          <p:nvPr/>
        </p:nvSpPr>
        <p:spPr>
          <a:xfrm>
            <a:off x="15725114" y="7364541"/>
            <a:ext cx="632716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3000" i="1" dirty="0" err="1"/>
              <a:t>ariadne</a:t>
            </a:r>
            <a:r>
              <a:rPr lang="en-GB" sz="3000" dirty="0"/>
              <a:t> technical summary: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Graph database built with </a:t>
            </a:r>
            <a:r>
              <a:rPr lang="en-GB" sz="3000" i="1" dirty="0" err="1"/>
              <a:t>igraph</a:t>
            </a:r>
            <a:endParaRPr lang="en-GB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Fast data retrieval with SPARQL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Efficient storage with </a:t>
            </a:r>
            <a:r>
              <a:rPr lang="en-GB" sz="3000" i="1" dirty="0"/>
              <a:t>arrow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High performance with </a:t>
            </a:r>
            <a:r>
              <a:rPr lang="en-GB" sz="3000" i="1" dirty="0" err="1"/>
              <a:t>data.table</a:t>
            </a:r>
            <a:endParaRPr lang="en-GB" sz="30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Weaving paths with </a:t>
            </a:r>
            <a:r>
              <a:rPr lang="en-GB" sz="3000" i="1" dirty="0" err="1"/>
              <a:t>MultiFactor</a:t>
            </a:r>
            <a:endParaRPr lang="en-GB" sz="3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074AC-253C-9D06-F3F0-3AD8678C8BF3}"/>
              </a:ext>
            </a:extLst>
          </p:cNvPr>
          <p:cNvSpPr txBox="1"/>
          <p:nvPr/>
        </p:nvSpPr>
        <p:spPr>
          <a:xfrm>
            <a:off x="22792682" y="8749840"/>
            <a:ext cx="1746632" cy="55399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3000" i="1" dirty="0" err="1">
                <a:solidFill>
                  <a:schemeClr val="accent1"/>
                </a:solidFill>
              </a:rPr>
              <a:t>ariadnePy</a:t>
            </a:r>
            <a:endParaRPr lang="en-GB" sz="3000" i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3DC5F-B250-3797-685B-73FF36E93004}"/>
              </a:ext>
            </a:extLst>
          </p:cNvPr>
          <p:cNvSpPr txBox="1"/>
          <p:nvPr/>
        </p:nvSpPr>
        <p:spPr>
          <a:xfrm>
            <a:off x="26363851" y="8749840"/>
            <a:ext cx="1997663" cy="55399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GB" sz="3000" i="1" dirty="0" err="1">
                <a:solidFill>
                  <a:schemeClr val="accent4"/>
                </a:solidFill>
              </a:rPr>
              <a:t>ariadneApp</a:t>
            </a:r>
            <a:endParaRPr lang="en-GB" sz="3000" i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3D6F8-19C4-BC14-95BB-28B64BFDF632}"/>
              </a:ext>
            </a:extLst>
          </p:cNvPr>
          <p:cNvSpPr txBox="1"/>
          <p:nvPr/>
        </p:nvSpPr>
        <p:spPr>
          <a:xfrm>
            <a:off x="24539313" y="10523278"/>
            <a:ext cx="1824538" cy="553998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3000" i="1" dirty="0" err="1">
                <a:solidFill>
                  <a:schemeClr val="accent3">
                    <a:lumMod val="75000"/>
                  </a:schemeClr>
                </a:solidFill>
              </a:rPr>
              <a:t>ariadneDB</a:t>
            </a:r>
            <a:endParaRPr lang="en-GB" sz="3000" i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D731E4-8557-35E1-C1A4-63ADCF214DD4}"/>
              </a:ext>
            </a:extLst>
          </p:cNvPr>
          <p:cNvSpPr txBox="1"/>
          <p:nvPr/>
        </p:nvSpPr>
        <p:spPr>
          <a:xfrm>
            <a:off x="24766138" y="7688708"/>
            <a:ext cx="1370888" cy="5539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GB" sz="3000" i="1" dirty="0" err="1">
                <a:solidFill>
                  <a:schemeClr val="accent2"/>
                </a:solidFill>
              </a:rPr>
              <a:t>ariadne</a:t>
            </a:r>
            <a:endParaRPr lang="en-GB" sz="3000" i="1" dirty="0">
              <a:solidFill>
                <a:schemeClr val="accent2"/>
              </a:solidFill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6F205E70-2EBB-59DC-BFE6-0DE90E0140B0}"/>
              </a:ext>
            </a:extLst>
          </p:cNvPr>
          <p:cNvCxnSpPr>
            <a:stCxn id="18" idx="0"/>
            <a:endCxn id="9" idx="1"/>
          </p:cNvCxnSpPr>
          <p:nvPr/>
        </p:nvCxnSpPr>
        <p:spPr>
          <a:xfrm rot="5400000" flipH="1" flipV="1">
            <a:off x="25159497" y="9318925"/>
            <a:ext cx="1496439" cy="912269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725B8E83-37C4-DA3A-A134-242E3A540DB0}"/>
              </a:ext>
            </a:extLst>
          </p:cNvPr>
          <p:cNvCxnSpPr>
            <a:stCxn id="18" idx="0"/>
            <a:endCxn id="6" idx="3"/>
          </p:cNvCxnSpPr>
          <p:nvPr/>
        </p:nvCxnSpPr>
        <p:spPr>
          <a:xfrm rot="16200000" flipV="1">
            <a:off x="24247229" y="9318925"/>
            <a:ext cx="1496439" cy="912268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F4758496-5D5E-3E6F-DD47-39F40919483A}"/>
              </a:ext>
            </a:extLst>
          </p:cNvPr>
          <p:cNvCxnSpPr>
            <a:stCxn id="18" idx="0"/>
            <a:endCxn id="27" idx="2"/>
          </p:cNvCxnSpPr>
          <p:nvPr/>
        </p:nvCxnSpPr>
        <p:spPr>
          <a:xfrm rot="5400000" flipH="1" flipV="1">
            <a:off x="24311296" y="9382992"/>
            <a:ext cx="2280572" cy="12700"/>
          </a:xfrm>
          <a:prstGeom prst="curvedConnector3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09143EFF-0945-546C-B74D-055772C17EF6}"/>
              </a:ext>
            </a:extLst>
          </p:cNvPr>
          <p:cNvSpPr/>
          <p:nvPr/>
        </p:nvSpPr>
        <p:spPr>
          <a:xfrm>
            <a:off x="1626253" y="16442659"/>
            <a:ext cx="12980613" cy="11075465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34043F-A3DF-DE96-F24A-956E17CF6D8B}"/>
              </a:ext>
            </a:extLst>
          </p:cNvPr>
          <p:cNvSpPr/>
          <p:nvPr/>
        </p:nvSpPr>
        <p:spPr>
          <a:xfrm>
            <a:off x="15725115" y="28635241"/>
            <a:ext cx="12922103" cy="1134840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E3CB00-9B0E-66DE-119F-16E9ED84A134}"/>
              </a:ext>
            </a:extLst>
          </p:cNvPr>
          <p:cNvSpPr/>
          <p:nvPr/>
        </p:nvSpPr>
        <p:spPr>
          <a:xfrm>
            <a:off x="1565998" y="28641699"/>
            <a:ext cx="13040868" cy="11324014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E11A5B3-4DF0-1EA6-7577-D09CF7C7F247}"/>
              </a:ext>
            </a:extLst>
          </p:cNvPr>
          <p:cNvSpPr/>
          <p:nvPr/>
        </p:nvSpPr>
        <p:spPr>
          <a:xfrm>
            <a:off x="15725115" y="16438183"/>
            <a:ext cx="12923845" cy="11079941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F54FBE3C-DE4D-F337-B947-97A851F90461}"/>
              </a:ext>
            </a:extLst>
          </p:cNvPr>
          <p:cNvCxnSpPr>
            <a:cxnSpLocks/>
            <a:stCxn id="51" idx="2"/>
            <a:endCxn id="49" idx="0"/>
          </p:cNvCxnSpPr>
          <p:nvPr/>
        </p:nvCxnSpPr>
        <p:spPr>
          <a:xfrm rot="5400000">
            <a:off x="14574948" y="21029608"/>
            <a:ext cx="1123575" cy="14100606"/>
          </a:xfrm>
          <a:prstGeom prst="bentConnector3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09A3F0FB-7843-FD9F-E352-C7658404B8CB}"/>
              </a:ext>
            </a:extLst>
          </p:cNvPr>
          <p:cNvCxnSpPr>
            <a:cxnSpLocks/>
            <a:stCxn id="46" idx="3"/>
            <a:endCxn id="51" idx="1"/>
          </p:cNvCxnSpPr>
          <p:nvPr/>
        </p:nvCxnSpPr>
        <p:spPr>
          <a:xfrm flipV="1">
            <a:off x="14606866" y="21978154"/>
            <a:ext cx="1118249" cy="2238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163D413-9E8F-2B53-0BD2-1CF3FC21A2EC}"/>
              </a:ext>
            </a:extLst>
          </p:cNvPr>
          <p:cNvCxnSpPr>
            <a:cxnSpLocks/>
            <a:stCxn id="49" idx="3"/>
            <a:endCxn id="47" idx="1"/>
          </p:cNvCxnSpPr>
          <p:nvPr/>
        </p:nvCxnSpPr>
        <p:spPr>
          <a:xfrm>
            <a:off x="14606866" y="34303706"/>
            <a:ext cx="1118249" cy="5736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9" name="Table 1038">
            <a:extLst>
              <a:ext uri="{FF2B5EF4-FFF2-40B4-BE49-F238E27FC236}">
                <a16:creationId xmlns:a16="http://schemas.microsoft.com/office/drawing/2014/main" id="{4E516068-678B-D47B-7778-B9B4DDB9C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797518"/>
              </p:ext>
            </p:extLst>
          </p:nvPr>
        </p:nvGraphicFramePr>
        <p:xfrm>
          <a:off x="17004159" y="11713191"/>
          <a:ext cx="10364013" cy="38097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94726">
                  <a:extLst>
                    <a:ext uri="{9D8B030D-6E8A-4147-A177-3AD203B41FA5}">
                      <a16:colId xmlns:a16="http://schemas.microsoft.com/office/drawing/2014/main" val="4033535567"/>
                    </a:ext>
                  </a:extLst>
                </a:gridCol>
                <a:gridCol w="2199861">
                  <a:extLst>
                    <a:ext uri="{9D8B030D-6E8A-4147-A177-3AD203B41FA5}">
                      <a16:colId xmlns:a16="http://schemas.microsoft.com/office/drawing/2014/main" val="726789854"/>
                    </a:ext>
                  </a:extLst>
                </a:gridCol>
                <a:gridCol w="7169426">
                  <a:extLst>
                    <a:ext uri="{9D8B030D-6E8A-4147-A177-3AD203B41FA5}">
                      <a16:colId xmlns:a16="http://schemas.microsoft.com/office/drawing/2014/main" val="3677836620"/>
                    </a:ext>
                  </a:extLst>
                </a:gridCol>
              </a:tblGrid>
              <a:tr h="728225">
                <a:tc>
                  <a:txBody>
                    <a:bodyPr/>
                    <a:lstStyle/>
                    <a:p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72345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🗃️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 err="1"/>
                        <a:t>MultiFactor</a:t>
                      </a:r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S7 classes for relational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566932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 err="1"/>
                        <a:t>ariadne</a:t>
                      </a:r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Import and wrangle relational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389301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🕷️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 err="1"/>
                        <a:t>anansi</a:t>
                      </a:r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Analysis of specific feature-pair interactions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022832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 err="1"/>
                        <a:t>pallas</a:t>
                      </a:r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Compose and send SPARQL queries from 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447023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⛵️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argonaut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Tools for stratified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916822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9116BB23-0468-1E7F-B27F-99CFB81ABF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87994" y="4911091"/>
            <a:ext cx="4700395" cy="7534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B34D24-845A-10F8-00D6-F1A652CA4C69}"/>
              </a:ext>
            </a:extLst>
          </p:cNvPr>
          <p:cNvSpPr txBox="1"/>
          <p:nvPr/>
        </p:nvSpPr>
        <p:spPr>
          <a:xfrm>
            <a:off x="5817427" y="543104"/>
            <a:ext cx="186112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b="1" i="1" dirty="0" err="1">
                <a:solidFill>
                  <a:schemeClr val="accent2"/>
                </a:solidFill>
              </a:rPr>
              <a:t>ariadne</a:t>
            </a:r>
            <a:r>
              <a:rPr lang="en-GB" sz="8000" dirty="0"/>
              <a:t>: enriching your ‘omics analyses with</a:t>
            </a:r>
          </a:p>
          <a:p>
            <a:pPr algn="ctr"/>
            <a:r>
              <a:rPr lang="en-GB" sz="8000" dirty="0"/>
              <a:t>prior knowledge from public databases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58131E-0044-2AE2-CD44-146385318D90}"/>
              </a:ext>
            </a:extLst>
          </p:cNvPr>
          <p:cNvSpPr txBox="1"/>
          <p:nvPr/>
        </p:nvSpPr>
        <p:spPr>
          <a:xfrm>
            <a:off x="1565998" y="14272475"/>
            <a:ext cx="129806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000" dirty="0"/>
              <a:t>There are as many use cases for </a:t>
            </a:r>
            <a:r>
              <a:rPr lang="en-GB" sz="3000" i="1" dirty="0" err="1"/>
              <a:t>ariadne</a:t>
            </a:r>
            <a:r>
              <a:rPr lang="en-GB" sz="3000" dirty="0"/>
              <a:t> as there are bioinformaticians. But its most natural applications include a) </a:t>
            </a:r>
            <a:r>
              <a:rPr lang="en-GB" sz="3000" b="1" dirty="0"/>
              <a:t>annotating or stratifying features </a:t>
            </a:r>
            <a:r>
              <a:rPr lang="en-DE" sz="3000" dirty="0"/>
              <a:t>based on prior knowledge and b) grounding </a:t>
            </a:r>
            <a:r>
              <a:rPr lang="en-DE" sz="3000" b="1" dirty="0"/>
              <a:t>pathway or X-set enrichment analyses</a:t>
            </a:r>
            <a:r>
              <a:rPr lang="en-DE" sz="3000" dirty="0"/>
              <a:t>.</a:t>
            </a:r>
            <a:endParaRPr lang="en-GB" sz="3000" dirty="0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3FDCAF35-9F23-FF8E-EE80-F73CAB566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02370" y="31541911"/>
            <a:ext cx="6058508" cy="5165193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9A62DEFF-ABD1-8CD3-6C16-E4627A235C0E}"/>
              </a:ext>
            </a:extLst>
          </p:cNvPr>
          <p:cNvSpPr txBox="1"/>
          <p:nvPr/>
        </p:nvSpPr>
        <p:spPr>
          <a:xfrm>
            <a:off x="16191864" y="36680682"/>
            <a:ext cx="39349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Analysis continues with: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BBE852C0-5627-C097-FEF7-2C4245C56F5F}"/>
              </a:ext>
            </a:extLst>
          </p:cNvPr>
          <p:cNvSpPr txBox="1"/>
          <p:nvPr/>
        </p:nvSpPr>
        <p:spPr>
          <a:xfrm>
            <a:off x="2196648" y="34506392"/>
            <a:ext cx="39501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The output is a </a:t>
            </a:r>
            <a:r>
              <a:rPr lang="en-GB" sz="3000" dirty="0" err="1"/>
              <a:t>linkmap</a:t>
            </a:r>
            <a:r>
              <a:rPr lang="en-GB" sz="3000" dirty="0"/>
              <a:t>:</a:t>
            </a:r>
          </a:p>
        </p:txBody>
      </p:sp>
      <p:graphicFrame>
        <p:nvGraphicFramePr>
          <p:cNvPr id="1028" name="Table 1027">
            <a:extLst>
              <a:ext uri="{FF2B5EF4-FFF2-40B4-BE49-F238E27FC236}">
                <a16:creationId xmlns:a16="http://schemas.microsoft.com/office/drawing/2014/main" id="{1C763FE7-A6E1-FD25-4099-F6D9C939E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469713"/>
              </p:ext>
            </p:extLst>
          </p:nvPr>
        </p:nvGraphicFramePr>
        <p:xfrm>
          <a:off x="17187750" y="33041570"/>
          <a:ext cx="2112440" cy="25242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6220">
                  <a:extLst>
                    <a:ext uri="{9D8B030D-6E8A-4147-A177-3AD203B41FA5}">
                      <a16:colId xmlns:a16="http://schemas.microsoft.com/office/drawing/2014/main" val="900627522"/>
                    </a:ext>
                  </a:extLst>
                </a:gridCol>
                <a:gridCol w="1056220">
                  <a:extLst>
                    <a:ext uri="{9D8B030D-6E8A-4147-A177-3AD203B41FA5}">
                      <a16:colId xmlns:a16="http://schemas.microsoft.com/office/drawing/2014/main" val="2736560378"/>
                    </a:ext>
                  </a:extLst>
                </a:gridCol>
              </a:tblGrid>
              <a:tr h="300408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/>
                        <a:t>taxid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/>
                        <a:t>kegg_path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619783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map05205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77257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map05418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757863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map00030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025958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map00051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281483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map00052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973921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map00061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149489"/>
                  </a:ext>
                </a:extLst>
              </a:tr>
            </a:tbl>
          </a:graphicData>
        </a:graphic>
      </p:graphicFrame>
      <p:sp>
        <p:nvSpPr>
          <p:cNvPr id="1030" name="TextBox 1029">
            <a:extLst>
              <a:ext uri="{FF2B5EF4-FFF2-40B4-BE49-F238E27FC236}">
                <a16:creationId xmlns:a16="http://schemas.microsoft.com/office/drawing/2014/main" id="{32D73CEA-E6F2-8056-7921-28957FBF443A}"/>
              </a:ext>
            </a:extLst>
          </p:cNvPr>
          <p:cNvSpPr txBox="1"/>
          <p:nvPr/>
        </p:nvSpPr>
        <p:spPr>
          <a:xfrm>
            <a:off x="19949448" y="33881784"/>
            <a:ext cx="50366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dirty="0"/>
              <a:t>+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8A3CFA0-79C7-4509-1533-596050262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080199" y="848585"/>
            <a:ext cx="3567019" cy="416001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0CA194E-2C76-E575-4AFB-AF58A583E1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910702" y="24181630"/>
            <a:ext cx="1672122" cy="167212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6FBD53C-21FB-222C-0840-970172E947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46567" y="24748062"/>
            <a:ext cx="1672337" cy="167233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7C609D9-755B-04D4-0141-7B7525D7AC1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71434" y="21051017"/>
            <a:ext cx="2048000" cy="1469936"/>
          </a:xfrm>
          <a:prstGeom prst="rect">
            <a:avLst/>
          </a:prstGeom>
        </p:spPr>
      </p:pic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6BB16274-AC05-7CBD-12BB-C4AE75FA4957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9582824" y="23331490"/>
            <a:ext cx="569762" cy="1686201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9" name="Curved Connector 1028">
            <a:extLst>
              <a:ext uri="{FF2B5EF4-FFF2-40B4-BE49-F238E27FC236}">
                <a16:creationId xmlns:a16="http://schemas.microsoft.com/office/drawing/2014/main" id="{12A368A6-F050-F469-0083-C2B816BB78BB}"/>
              </a:ext>
            </a:extLst>
          </p:cNvPr>
          <p:cNvCxnSpPr>
            <a:cxnSpLocks/>
            <a:stCxn id="38" idx="1"/>
          </p:cNvCxnSpPr>
          <p:nvPr/>
        </p:nvCxnSpPr>
        <p:spPr>
          <a:xfrm rot="10800000">
            <a:off x="22650791" y="23377973"/>
            <a:ext cx="795777" cy="2206259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7" name="Curved Connector 1036">
            <a:extLst>
              <a:ext uri="{FF2B5EF4-FFF2-40B4-BE49-F238E27FC236}">
                <a16:creationId xmlns:a16="http://schemas.microsoft.com/office/drawing/2014/main" id="{6E260149-04D4-684B-8309-E9F826C91772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 flipV="1">
            <a:off x="24539314" y="21785984"/>
            <a:ext cx="532121" cy="1248823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74D3E54E-F1DA-BAC4-4ACE-BD60510FA22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213994" y="991541"/>
            <a:ext cx="3297878" cy="329787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F7106C9-8166-FD21-813A-5320FB90F59E}"/>
              </a:ext>
            </a:extLst>
          </p:cNvPr>
          <p:cNvSpPr txBox="1"/>
          <p:nvPr/>
        </p:nvSpPr>
        <p:spPr>
          <a:xfrm>
            <a:off x="1349739" y="5020059"/>
            <a:ext cx="40136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*</a:t>
            </a:r>
            <a:r>
              <a:rPr lang="en-GB" sz="3000" dirty="0">
                <a:hlinkClick r:id="rId16"/>
              </a:rPr>
              <a:t>giulio.benedetti@utu.fi</a:t>
            </a:r>
            <a:endParaRPr lang="en-GB" sz="3000" dirty="0"/>
          </a:p>
        </p:txBody>
      </p:sp>
      <p:pic>
        <p:nvPicPr>
          <p:cNvPr id="22" name="Picture 21" descr="A black and white logo&#10;&#10;Description automatically generated">
            <a:extLst>
              <a:ext uri="{FF2B5EF4-FFF2-40B4-BE49-F238E27FC236}">
                <a16:creationId xmlns:a16="http://schemas.microsoft.com/office/drawing/2014/main" id="{5AA7CA93-499B-4F65-ED66-C08902FAB10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97301" y="4399465"/>
            <a:ext cx="4947844" cy="14173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C1087BB-DE43-9E1B-0312-4D27F8C7902D}"/>
              </a:ext>
            </a:extLst>
          </p:cNvPr>
          <p:cNvSpPr txBox="1"/>
          <p:nvPr/>
        </p:nvSpPr>
        <p:spPr>
          <a:xfrm>
            <a:off x="24326932" y="5077209"/>
            <a:ext cx="50910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>
                <a:hlinkClick r:id="rId18"/>
              </a:rPr>
              <a:t>github.com/Minotau-R/ariadne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4084354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1972</TotalTime>
  <Words>608</Words>
  <Application>Microsoft Macintosh PowerPoint</Application>
  <PresentationFormat>Custom</PresentationFormat>
  <Paragraphs>101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Atkinson Hyperlegible</vt:lpstr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Giulio Benedetti</dc:creator>
  <cp:lastModifiedBy>Giulio Benedetti</cp:lastModifiedBy>
  <cp:revision>187</cp:revision>
  <dcterms:created xsi:type="dcterms:W3CDTF">2024-09-03T19:06:17Z</dcterms:created>
  <dcterms:modified xsi:type="dcterms:W3CDTF">2026-05-27T12:06:21Z</dcterms:modified>
</cp:coreProperties>
</file>